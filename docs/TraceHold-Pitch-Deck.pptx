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26d28d-07d9-cdfb-ea8c-03247187009c}">
          <p14:sldIdLst>
            <p14:sldId id="256"/>
          </p14:sldIdLst>
        </p14:section>
        <p14:section name="Problem" id="{6e9975c8-a8e8-419e-10b8-ce342732e2ac}">
          <p14:sldIdLst>
            <p14:sldId id="257"/>
            <p14:sldId id="258"/>
            <p14:sldId id="259"/>
          </p14:sldIdLst>
        </p14:section>
        <p14:section name="Solution" id="{d5154ce9-11b4-e6fb-4259-97d20c7cba82}">
          <p14:sldIdLst>
            <p14:sldId id="260"/>
            <p14:sldId id="261"/>
            <p14:sldId id="262"/>
            <p14:sldId id="263"/>
          </p14:sldIdLst>
        </p14:section>
        <p14:section name="Exasol" id="{85dd1bfe-3f00-a5e5-3cf8-6bbae3eb252c}">
          <p14:sldIdLst>
            <p14:sldId id="264"/>
            <p14:sldId id="265"/>
          </p14:sldIdLst>
        </p14:section>
        <p14:section name="Trust" id="{9f7cc6a2-f387-c635-a29f-b6b2691e9ae6}">
          <p14:sldIdLst>
            <p14:sldId id="266"/>
            <p14:sldId id="267"/>
            <p14:sldId id="268"/>
          </p14:sldIdLst>
        </p14:section>
        <p14:section name="Positioning" id="{b2213753-93da-8eae-5fc9-7a1de9bec397}">
          <p14:sldIdLst>
            <p14:sldId id="269"/>
            <p14:sldId id="270"/>
          </p14:sldIdLst>
        </p14:section>
        <p14:section name="Closing" id="{2b9bf535-2ca2-29f5-a227-9f39e24f3d4c}">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Frozen (whole balance)</c:v>
                </c:pt>
              </c:strCache>
            </c:strRef>
          </c:tx>
          <c:spPr>
            <a:solidFill>
              <a:srgbClr val="CDB48A"/>
            </a:solidFill>
            <a:effectLst/>
          </c:spPr>
          <c:invertIfNegative val="0"/>
          <c:dLbls>
            <c:numFmt formatCode="₹#,##0" sourceLinked="0"/>
            <c:txPr>
              <a:bodyPr/>
              <a:lstStyle/>
              <a:p>
                <a:pPr>
                  <a:defRPr b="0" i="0" strike="noStrike" sz="1100" u="none">
                    <a:solidFill>
                      <a:srgbClr val="2A1B14"/>
                    </a:solidFill>
                    <a:latin typeface="+mn-lt"/>
                  </a:defRPr>
                </a:pPr>
              </a:p>
            </c:txPr>
            <c:showLegendKey val="0"/>
            <c:showVal val="1"/>
            <c:showCatName val="0"/>
            <c:showSerName val="0"/>
            <c:showPercent val="0"/>
            <c:showBubbleSize val="0"/>
            <c:showLeaderLines val="0"/>
          </c:dLbls>
          <c:cat>
            <c:multiLvlStrRef>
              <c:f>Sheet1!$A$2:$A$4</c:f>
              <c:multiLvlStrCache>
                <c:ptCount val="3"/>
                <c:lvl>
                  <c:pt idx="0">
                    <c:v>Account A</c:v>
                  </c:pt>
                  <c:pt idx="1">
                    <c:v>Account B</c:v>
                  </c:pt>
                  <c:pt idx="2">
                    <c:v>Account C</c:v>
                  </c:pt>
                </c:lvl>
              </c:multiLvlStrCache>
            </c:multiLvlStrRef>
          </c:cat>
          <c:val>
            <c:numRef>
              <c:f>Sheet1!$B$2:$B$4</c:f>
              <c:numCache>
                <c:formatCode>General</c:formatCode>
                <c:ptCount val="3"/>
                <c:pt idx="0">
                  <c:v>30000</c:v>
                </c:pt>
                <c:pt idx="1">
                  <c:v>190000</c:v>
                </c:pt>
                <c:pt idx="2">
                  <c:v>450000</c:v>
                </c:pt>
              </c:numCache>
            </c:numRef>
          </c:val>
        </c:ser>
        <c:ser>
          <c:idx val="1"/>
          <c:order val="1"/>
          <c:tx>
            <c:strRef>
              <c:f>Sheet1!$C$1</c:f>
              <c:strCache>
                <c:ptCount val="1"/>
                <c:pt idx="0">
                  <c:v>Supported by the records (upper end)</c:v>
                </c:pt>
              </c:strCache>
            </c:strRef>
          </c:tx>
          <c:spPr>
            <a:solidFill>
              <a:srgbClr val="6E7B3A"/>
            </a:solidFill>
            <a:effectLst/>
          </c:spPr>
          <c:invertIfNegative val="0"/>
          <c:dLbls>
            <c:numFmt formatCode="₹#,##0" sourceLinked="0"/>
            <c:txPr>
              <a:bodyPr/>
              <a:lstStyle/>
              <a:p>
                <a:pPr>
                  <a:defRPr b="0" i="0" strike="noStrike" sz="1100" u="none">
                    <a:solidFill>
                      <a:srgbClr val="2A1B14"/>
                    </a:solidFill>
                    <a:latin typeface="+mn-lt"/>
                  </a:defRPr>
                </a:pPr>
              </a:p>
            </c:txPr>
            <c:showLegendKey val="0"/>
            <c:showVal val="1"/>
            <c:showCatName val="0"/>
            <c:showSerName val="0"/>
            <c:showPercent val="0"/>
            <c:showBubbleSize val="0"/>
            <c:showLeaderLines val="0"/>
          </c:dLbls>
          <c:cat>
            <c:multiLvlStrRef>
              <c:f>Sheet1!$A$2:$A$4</c:f>
              <c:multiLvlStrCache>
                <c:ptCount val="3"/>
                <c:lvl>
                  <c:pt idx="0">
                    <c:v>Account A</c:v>
                  </c:pt>
                  <c:pt idx="1">
                    <c:v>Account B</c:v>
                  </c:pt>
                  <c:pt idx="2">
                    <c:v>Account C</c:v>
                  </c:pt>
                </c:lvl>
              </c:multiLvlStrCache>
            </c:multiLvlStrRef>
          </c:cat>
          <c:val>
            <c:numRef>
              <c:f>Sheet1!$C$2:$C$4</c:f>
              <c:numCache>
                <c:formatCode>General</c:formatCode>
                <c:ptCount val="3"/>
                <c:pt idx="0">
                  <c:v>30000</c:v>
                </c:pt>
                <c:pt idx="1">
                  <c:v>70000</c:v>
                </c:pt>
                <c:pt idx="2">
                  <c:v>50847</c:v>
                </c:pt>
              </c:numCache>
            </c:numRef>
          </c:val>
        </c:ser>
        <c:dLbls>
          <c:numFmt formatCode="₹#,##0" sourceLinked="0"/>
          <c:txPr>
            <a:bodyPr/>
            <a:lstStyle/>
            <a:p>
              <a:pPr>
                <a:defRPr b="0" i="0" strike="noStrike" sz="1100" u="none">
                  <a:solidFill>
                    <a:srgbClr val="2A1B1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A1B1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4636"/>
                </a:solidFill>
                <a:latin typeface="+mn-lt"/>
              </a:defRPr>
            </a:pPr>
            <a:r>
              <a:rPr sz="1300" b="0" i="0" u="none" strike="noStrike">
                <a:solidFill>
                  <a:srgbClr val="5B4636"/>
                </a:solidFill>
                <a:latin typeface="+mn-lt"/>
              </a:rPr>
              <a:t>Full analysis: clean, balances, trace and size every case (seconds)</a:t>
            </a:r>
          </a:p>
        </c:rich>
      </c:tx>
      <c:layout/>
      <c:overlay val="0"/>
    </c:title>
    <c:autoTitleDeleted val="0"/>
    <c:plotArea>
      <c:layout/>
      <c:barChart>
        <c:barDir val="col"/>
        <c:grouping val="clustered"/>
        <c:varyColors val="0"/>
        <c:ser>
          <c:idx val="0"/>
          <c:order val="0"/>
          <c:tx>
            <c:strRef>
              <c:f>Sheet1!$B$1</c:f>
              <c:strCache>
                <c:ptCount val="1"/>
                <c:pt idx="0">
                  <c:v>Exasol</c:v>
                </c:pt>
              </c:strCache>
            </c:strRef>
          </c:tx>
          <c:spPr>
            <a:solidFill>
              <a:srgbClr val="E39B2D"/>
            </a:solidFill>
            <a:effectLst/>
          </c:spPr>
          <c:invertIfNegative val="0"/>
          <c:dLbls>
            <c:numFmt formatCode="0.0&quot; s&quot;" sourceLinked="0"/>
            <c:txPr>
              <a:bodyPr/>
              <a:lstStyle/>
              <a:p>
                <a:pPr>
                  <a:defRPr b="0" i="0" strike="noStrike" sz="1200" u="none">
                    <a:solidFill>
                      <a:srgbClr val="2A1B14"/>
                    </a:solidFill>
                    <a:latin typeface="+mn-lt"/>
                  </a:defRPr>
                </a:pPr>
              </a:p>
            </c:txPr>
            <c:showLegendKey val="0"/>
            <c:showVal val="1"/>
            <c:showCatName val="0"/>
            <c:showSerName val="0"/>
            <c:showPercent val="0"/>
            <c:showBubbleSize val="0"/>
            <c:showLeaderLines val="0"/>
          </c:dLbls>
          <c:cat>
            <c:multiLvlStrRef>
              <c:f>Sheet1!$A$2:$A$3</c:f>
              <c:multiLvlStrCache>
                <c:ptCount val="2"/>
                <c:lvl>
                  <c:pt idx="0">
                    <c:v>241k transactions</c:v>
                  </c:pt>
                  <c:pt idx="1">
                    <c:v>958k transactions</c:v>
                  </c:pt>
                </c:lvl>
              </c:multiLvlStrCache>
            </c:multiLvlStrRef>
          </c:cat>
          <c:val>
            <c:numRef>
              <c:f>Sheet1!$B$2:$B$3</c:f>
              <c:numCache>
                <c:formatCode>General</c:formatCode>
                <c:ptCount val="2"/>
                <c:pt idx="0">
                  <c:v>27.8</c:v>
                </c:pt>
                <c:pt idx="1">
                  <c:v>43.8</c:v>
                </c:pt>
              </c:numCache>
            </c:numRef>
          </c:val>
        </c:ser>
        <c:ser>
          <c:idx val="1"/>
          <c:order val="1"/>
          <c:tx>
            <c:strRef>
              <c:f>Sheet1!$C$1</c:f>
              <c:strCache>
                <c:ptCount val="1"/>
                <c:pt idx="0">
                  <c:v>PostgreSQL 16 (tuned, indexed)</c:v>
                </c:pt>
              </c:strCache>
            </c:strRef>
          </c:tx>
          <c:spPr>
            <a:solidFill>
              <a:srgbClr val="CDB48A"/>
            </a:solidFill>
            <a:effectLst/>
          </c:spPr>
          <c:invertIfNegative val="0"/>
          <c:dLbls>
            <c:numFmt formatCode="0.0&quot; s&quot;" sourceLinked="0"/>
            <c:txPr>
              <a:bodyPr/>
              <a:lstStyle/>
              <a:p>
                <a:pPr>
                  <a:defRPr b="0" i="0" strike="noStrike" sz="1200" u="none">
                    <a:solidFill>
                      <a:srgbClr val="2A1B14"/>
                    </a:solidFill>
                    <a:latin typeface="+mn-lt"/>
                  </a:defRPr>
                </a:pPr>
              </a:p>
            </c:txPr>
            <c:showLegendKey val="0"/>
            <c:showVal val="1"/>
            <c:showCatName val="0"/>
            <c:showSerName val="0"/>
            <c:showPercent val="0"/>
            <c:showBubbleSize val="0"/>
            <c:showLeaderLines val="0"/>
          </c:dLbls>
          <c:cat>
            <c:multiLvlStrRef>
              <c:f>Sheet1!$A$2:$A$3</c:f>
              <c:multiLvlStrCache>
                <c:ptCount val="2"/>
                <c:lvl>
                  <c:pt idx="0">
                    <c:v>241k transactions</c:v>
                  </c:pt>
                  <c:pt idx="1">
                    <c:v>958k transactions</c:v>
                  </c:pt>
                </c:lvl>
              </c:multiLvlStrCache>
            </c:multiLvlStrRef>
          </c:cat>
          <c:val>
            <c:numRef>
              <c:f>Sheet1!$C$2:$C$3</c:f>
              <c:numCache>
                <c:formatCode>General</c:formatCode>
                <c:ptCount val="2"/>
                <c:pt idx="0">
                  <c:v>38.9</c:v>
                </c:pt>
                <c:pt idx="1">
                  <c:v>343.6</c:v>
                </c:pt>
              </c:numCache>
            </c:numRef>
          </c:val>
        </c:ser>
        <c:dLbls>
          <c:numFmt formatCode="0.0&quot; s&quot;" sourceLinked="0"/>
          <c:txPr>
            <a:bodyPr/>
            <a:lstStyle/>
            <a:p>
              <a:pPr>
                <a:defRPr b="0" i="0" strike="noStrike" sz="1200" u="none">
                  <a:solidFill>
                    <a:srgbClr val="2A1B1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A1B1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TraceHold sizes cyber-fraud account holds: how much of each balance the transaction records can actually trace to a reported fraud. In the worked example from our problem statement, freezing three whole accounts locks ₹6,70,000, while the records support at most ₹1,50,847.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failures have one root: there is no quick, defensible way to work out how much of the disputed money is in each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worked example from the project document, reproduced to the paisa by the SQL engine. B and C hold far more than the records can tie to the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Exasol is not a storage layer here: it is the engine. The Python layer only sequences SQL. The timing is on a laptop with 8 GB of RAM and Exasol limited to 3 GB; close other apps before a live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A1B1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5669280" cy="365760"/>
          </a:xfrm>
          <a:prstGeom prst="rect">
            <a:avLst/>
          </a:prstGeom>
          <a:noFill/>
          <a:ln/>
        </p:spPr>
        <p:txBody>
          <a:bodyPr wrap="square" rtlCol="0"/>
          <a:lstStyle>
            <a:lvl1pPr indent="0" marL="0">
              <a:buNone/>
              <a:defRPr lang="en-US" sz="1200" b="1" spc="300" kern="0" dirty="0">
                <a:solidFill>
                  <a:srgbClr val="E39B2D"/>
                </a:solidFill>
              </a:defRPr>
            </a:lvl1pPr>
          </a:lstStyle>
          <a:p>
            <a:pPr indent="0" marL="0">
              <a:buNone/>
            </a:pPr>
            <a:endParaRPr lang="en-US" sz="1200" dirty="0"/>
          </a:p>
        </p:txBody>
      </p:sp>
      <p:sp>
        <p:nvSpPr>
          <p:cNvPr id="3" name="Text 0"/>
          <p:cNvSpPr/>
          <p:nvPr>
            <p:ph idx="101" type="title" hasCustomPrompt="1"/>
          </p:nvPr>
        </p:nvSpPr>
        <p:spPr>
          <a:xfrm>
            <a:off x="731520" y="1325880"/>
            <a:ext cx="5669280" cy="1371600"/>
          </a:xfrm>
          <a:prstGeom prst="rect">
            <a:avLst/>
          </a:prstGeom>
          <a:noFill/>
          <a:ln/>
        </p:spPr>
        <p:txBody>
          <a:bodyPr wrap="square" rtlCol="0"/>
          <a:lstStyle>
            <a:lvl1pPr algn="l" indent="0" marL="0">
              <a:buNone/>
              <a:defRPr lang="en-US" sz="7000" b="1" dirty="0">
                <a:solidFill>
                  <a:srgbClr val="F3E7D3"/>
                </a:solidFill>
                <a:latin typeface="Cambria" pitchFamily="34" charset="0"/>
                <a:ea typeface="Cambria" pitchFamily="34" charset="-122"/>
                <a:cs typeface="Cambria" pitchFamily="34" charset="-120"/>
              </a:defRPr>
            </a:lvl1pPr>
          </a:lstStyle>
          <a:p>
            <a:pPr algn="l" indent="0" marL="0">
              <a:buNone/>
            </a:pPr>
            <a:endParaRPr lang="en-US" sz="7000" dirty="0"/>
          </a:p>
        </p:txBody>
      </p:sp>
      <p:sp>
        <p:nvSpPr>
          <p:cNvPr id="4" name="Text 0"/>
          <p:cNvSpPr/>
          <p:nvPr>
            <p:ph idx="102" type="body" hasCustomPrompt="1"/>
          </p:nvPr>
        </p:nvSpPr>
        <p:spPr>
          <a:xfrm>
            <a:off x="731520" y="2788920"/>
            <a:ext cx="5303520" cy="1097280"/>
          </a:xfrm>
          <a:prstGeom prst="rect">
            <a:avLst/>
          </a:prstGeom>
          <a:noFill/>
          <a:ln/>
        </p:spPr>
        <p:txBody>
          <a:bodyPr wrap="square" rtlCol="0"/>
          <a:lstStyle>
            <a:lvl1pPr indent="0" marL="0">
              <a:buNone/>
              <a:defRPr lang="en-US" sz="2400" dirty="0">
                <a:solidFill>
                  <a:srgbClr val="CDB48A"/>
                </a:solidFill>
                <a:latin typeface="Cambria" pitchFamily="34" charset="0"/>
                <a:ea typeface="Cambria" pitchFamily="34" charset="-122"/>
                <a:cs typeface="Cambria"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0E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100" b="1" spc="300" kern="0" dirty="0">
                <a:solidFill>
                  <a:srgbClr val="695544"/>
                </a:solidFill>
              </a:defRPr>
            </a:lvl1pPr>
          </a:lstStyle>
          <a:p>
            <a:pPr indent="0" marL="0">
              <a:buNone/>
            </a:pP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4" name="Text 0"/>
          <p:cNvSpPr txBox="1"/>
          <p:nvPr/>
        </p:nvSpPr>
        <p:spPr>
          <a:xfrm>
            <a:off x="548640" y="6446520"/>
            <a:ext cx="8229600" cy="256032"/>
          </a:xfrm>
          <a:prstGeom prst="rect">
            <a:avLst/>
          </a:prstGeom>
          <a:noFill/>
          <a:ln/>
        </p:spPr>
        <p:txBody>
          <a:bodyPr wrap="square" rtlCol="0" anchor="ctr"/>
          <a:lstStyle/>
          <a:p>
            <a:pPr indent="0" marL="0">
              <a:buNone/>
            </a:pPr>
            <a:r>
              <a:rPr lang="en-US" sz="950" dirty="0">
                <a:solidFill>
                  <a:srgbClr val="B98B6A"/>
                </a:solidFill>
              </a:rPr>
              <a:t>TraceHold  ·  ExaThon India 2026  ·  Track 01: Money, Risk &amp; Regulation</a:t>
            </a:r>
            <a:endParaRPr lang="en-US" sz="95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5669280" cy="365760"/>
          </a:xfrm>
          <a:prstGeom prst="rect">
            <a:avLst/>
          </a:prstGeom>
          <a:noFill/>
          <a:ln/>
        </p:spPr>
        <p:txBody>
          <a:bodyPr wrap="square" rtlCol="0"/>
          <a:lstStyle/>
          <a:p>
            <a:pPr indent="0" marL="0">
              <a:buNone/>
            </a:pPr>
            <a:r>
              <a:rPr lang="en-US" sz="1200" b="1" spc="300" kern="0" dirty="0">
                <a:solidFill>
                  <a:srgbClr val="E39B2D"/>
                </a:solidFill>
              </a:rPr>
              <a:t>EXATHON INDIA 2026  ·  TRACK 01</a:t>
            </a:r>
            <a:endParaRPr lang="en-US" sz="1200" dirty="0"/>
          </a:p>
        </p:txBody>
      </p:sp>
      <p:sp>
        <p:nvSpPr>
          <p:cNvPr id="3" name="Text 0"/>
          <p:cNvSpPr/>
          <p:nvPr>
            <p:ph idx="101" type="title" hasCustomPrompt="1"/>
          </p:nvPr>
        </p:nvSpPr>
        <p:spPr>
          <a:xfrm>
            <a:off x="731520" y="1325880"/>
            <a:ext cx="5669280" cy="1371600"/>
          </a:xfrm>
          <a:prstGeom prst="rect">
            <a:avLst/>
          </a:prstGeom>
          <a:noFill/>
          <a:ln/>
        </p:spPr>
        <p:txBody>
          <a:bodyPr wrap="square" rtlCol="0"/>
          <a:lstStyle/>
          <a:p>
            <a:pPr algn="l" indent="0" marL="0">
              <a:buNone/>
            </a:pPr>
            <a:r>
              <a:rPr lang="en-US" sz="7000" b="1" dirty="0">
                <a:solidFill>
                  <a:srgbClr val="F3E7D3"/>
                </a:solidFill>
                <a:latin typeface="Cambria" pitchFamily="34" charset="0"/>
                <a:ea typeface="Cambria" pitchFamily="34" charset="-122"/>
                <a:cs typeface="Cambria" pitchFamily="34" charset="-120"/>
              </a:rPr>
              <a:t>Trace</a:t>
            </a:r>
            <a:pPr algn="l" indent="0" marL="0">
              <a:buNone/>
            </a:pPr>
            <a:r>
              <a:rPr lang="en-US" sz="7000" b="1" i="1" dirty="0">
                <a:solidFill>
                  <a:srgbClr val="E39B2D"/>
                </a:solidFill>
                <a:latin typeface="Cambria" pitchFamily="34" charset="0"/>
                <a:ea typeface="Cambria" pitchFamily="34" charset="-122"/>
                <a:cs typeface="Cambria" pitchFamily="34" charset="-120"/>
              </a:rPr>
              <a:t>Hold</a:t>
            </a:r>
            <a:endParaRPr lang="en-US" sz="7000" dirty="0"/>
          </a:p>
        </p:txBody>
      </p:sp>
      <p:sp>
        <p:nvSpPr>
          <p:cNvPr id="4" name="Text 0"/>
          <p:cNvSpPr/>
          <p:nvPr>
            <p:ph idx="102" type="body" hasCustomPrompt="1"/>
          </p:nvPr>
        </p:nvSpPr>
        <p:spPr>
          <a:xfrm>
            <a:off x="731520" y="2788920"/>
            <a:ext cx="5303520" cy="1097280"/>
          </a:xfrm>
          <a:prstGeom prst="rect">
            <a:avLst/>
          </a:prstGeom>
          <a:noFill/>
          <a:ln/>
        </p:spPr>
        <p:txBody>
          <a:bodyPr wrap="square" rtlCol="0"/>
          <a:lstStyle/>
          <a:p>
            <a:pPr indent="0" marL="0">
              <a:buNone/>
            </a:pPr>
            <a:r>
              <a:rPr lang="en-US" sz="2400" dirty="0">
                <a:solidFill>
                  <a:srgbClr val="CDB48A"/>
                </a:solidFill>
                <a:latin typeface="Cambria" pitchFamily="34" charset="0"/>
                <a:ea typeface="Cambria" pitchFamily="34" charset="-122"/>
                <a:cs typeface="Cambria" pitchFamily="34" charset="-120"/>
              </a:rPr>
              <a:t>Trace the stolen money. Hold only what the records support.</a:t>
            </a:r>
            <a:endParaRPr lang="en-US" sz="2400" dirty="0"/>
          </a:p>
        </p:txBody>
      </p:sp>
      <p:sp>
        <p:nvSpPr>
          <p:cNvPr id="5" name="Text 3"/>
          <p:cNvSpPr txBox="1"/>
          <p:nvPr/>
        </p:nvSpPr>
        <p:spPr>
          <a:xfrm>
            <a:off x="6858000" y="1417320"/>
            <a:ext cx="4754880" cy="320040"/>
          </a:xfrm>
          <a:prstGeom prst="rect">
            <a:avLst/>
          </a:prstGeom>
          <a:noFill/>
          <a:ln/>
        </p:spPr>
        <p:txBody>
          <a:bodyPr wrap="square" lIns="0" tIns="0" rIns="0" bIns="0" rtlCol="0" anchor="t"/>
          <a:lstStyle/>
          <a:p>
            <a:pPr indent="0" marL="0">
              <a:buNone/>
            </a:pPr>
            <a:r>
              <a:rPr lang="en-US" sz="1200" b="1" spc="300" kern="0" dirty="0">
                <a:solidFill>
                  <a:srgbClr val="E39B2D"/>
                </a:solidFill>
                <a:latin typeface="Calibri" pitchFamily="34" charset="0"/>
                <a:ea typeface="Calibri" pitchFamily="34" charset="-122"/>
                <a:cs typeface="Calibri" pitchFamily="34" charset="-120"/>
              </a:rPr>
              <a:t>THE WORKED EXAMPLE</a:t>
            </a:r>
            <a:endParaRPr lang="en-US" sz="1200" dirty="0"/>
          </a:p>
        </p:txBody>
      </p:sp>
      <p:graphicFrame>
        <p:nvGraphicFramePr>
          <p:cNvPr id="2" name="worked example ledger"/>
          <p:cNvGraphicFramePr>
            <a:graphicFrameLocks noGrp="1"/>
          </p:cNvGraphicFramePr>
          <p:nvPr>
            <p:extLst>
              <p:ext uri="{D42A27DB-BD31-4B8C-83A1-F6EECF244321}">
                <p14:modId xmlns:p14="http://schemas.microsoft.com/office/powerpoint/2010/main" val="1579011935"/>
              </p:ext>
            </p:extLst>
          </p:nvPr>
        </p:nvGraphicFramePr>
        <p:xfrm>
          <a:off x="6858000" y="1828800"/>
          <a:ext cx="4754880" cy="914400"/>
        </p:xfrm>
        <a:graphic>
          <a:graphicData uri="http://schemas.openxmlformats.org/drawingml/2006/table">
            <a:tbl>
              <a:tblPr/>
              <a:tblGrid>
                <a:gridCol w="1737360"/>
                <a:gridCol w="1508760"/>
                <a:gridCol w="1508760"/>
              </a:tblGrid>
              <a:tr h="411480">
                <a:tc>
                  <a:txBody>
                    <a:bodyPr/>
                    <a:lstStyle/>
                    <a:p>
                      <a:pPr indent="0" marL="0">
                        <a:buNone/>
                      </a:pPr>
                      <a:endParaRPr lang="en-US" sz="11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100" b="1" spc="100" kern="0" dirty="0">
                          <a:solidFill>
                            <a:srgbClr val="CDB48A"/>
                          </a:solidFill>
                          <a:latin typeface="Calibri" pitchFamily="34" charset="0"/>
                          <a:ea typeface="Calibri" pitchFamily="34" charset="-122"/>
                          <a:cs typeface="Calibri" pitchFamily="34" charset="-120"/>
                        </a:rPr>
                        <a:t>FROZEN</a:t>
                      </a:r>
                      <a:endParaRPr lang="en-US" sz="11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100" b="1" spc="100" kern="0" dirty="0">
                          <a:solidFill>
                            <a:srgbClr val="CDB48A"/>
                          </a:solidFill>
                          <a:latin typeface="Calibri" pitchFamily="34" charset="0"/>
                          <a:ea typeface="Calibri" pitchFamily="34" charset="-122"/>
                          <a:cs typeface="Calibri" pitchFamily="34" charset="-120"/>
                        </a:rPr>
                        <a:t>SUPPORTED</a:t>
                      </a:r>
                      <a:endParaRPr lang="en-US" sz="11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r>
              <a:tr h="530352">
                <a:tc>
                  <a:txBody>
                    <a:bodyPr/>
                    <a:lstStyle/>
                    <a:p>
                      <a:pPr indent="0" marL="0">
                        <a:buNone/>
                      </a:pPr>
                      <a:r>
                        <a:rPr lang="en-US" sz="1500" dirty="0">
                          <a:solidFill>
                            <a:srgbClr val="F3E7D3"/>
                          </a:solidFill>
                          <a:latin typeface="Calibri" pitchFamily="34" charset="0"/>
                          <a:ea typeface="Calibri" pitchFamily="34" charset="-122"/>
                          <a:cs typeface="Calibri" pitchFamily="34" charset="-120"/>
                        </a:rPr>
                        <a:t>Account A</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500" dirty="0">
                          <a:solidFill>
                            <a:srgbClr val="F3E7D3"/>
                          </a:solidFill>
                          <a:latin typeface="Calibri" pitchFamily="34" charset="0"/>
                          <a:ea typeface="Calibri" pitchFamily="34" charset="-122"/>
                          <a:cs typeface="Calibri" pitchFamily="34" charset="-120"/>
                        </a:rPr>
                        <a:t>₹30,000</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500" dirty="0">
                          <a:solidFill>
                            <a:srgbClr val="E39B2D"/>
                          </a:solidFill>
                          <a:latin typeface="Calibri" pitchFamily="34" charset="0"/>
                          <a:ea typeface="Calibri" pitchFamily="34" charset="-122"/>
                          <a:cs typeface="Calibri" pitchFamily="34" charset="-120"/>
                        </a:rPr>
                        <a:t>₹30,000</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r>
              <a:tr h="530352">
                <a:tc>
                  <a:txBody>
                    <a:bodyPr/>
                    <a:lstStyle/>
                    <a:p>
                      <a:pPr indent="0" marL="0">
                        <a:buNone/>
                      </a:pPr>
                      <a:r>
                        <a:rPr lang="en-US" sz="1500" dirty="0">
                          <a:solidFill>
                            <a:srgbClr val="F3E7D3"/>
                          </a:solidFill>
                          <a:latin typeface="Calibri" pitchFamily="34" charset="0"/>
                          <a:ea typeface="Calibri" pitchFamily="34" charset="-122"/>
                          <a:cs typeface="Calibri" pitchFamily="34" charset="-120"/>
                        </a:rPr>
                        <a:t>Account B</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500" dirty="0">
                          <a:solidFill>
                            <a:srgbClr val="F3E7D3"/>
                          </a:solidFill>
                          <a:latin typeface="Calibri" pitchFamily="34" charset="0"/>
                          <a:ea typeface="Calibri" pitchFamily="34" charset="-122"/>
                          <a:cs typeface="Calibri" pitchFamily="34" charset="-120"/>
                        </a:rPr>
                        <a:t>₹1,90,000</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500" dirty="0">
                          <a:solidFill>
                            <a:srgbClr val="E39B2D"/>
                          </a:solidFill>
                          <a:latin typeface="Calibri" pitchFamily="34" charset="0"/>
                          <a:ea typeface="Calibri" pitchFamily="34" charset="-122"/>
                          <a:cs typeface="Calibri" pitchFamily="34" charset="-120"/>
                        </a:rPr>
                        <a:t>₹70,000</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r>
              <a:tr h="530352">
                <a:tc>
                  <a:txBody>
                    <a:bodyPr/>
                    <a:lstStyle/>
                    <a:p>
                      <a:pPr indent="0" marL="0">
                        <a:buNone/>
                      </a:pPr>
                      <a:r>
                        <a:rPr lang="en-US" sz="1500" dirty="0">
                          <a:solidFill>
                            <a:srgbClr val="F3E7D3"/>
                          </a:solidFill>
                          <a:latin typeface="Calibri" pitchFamily="34" charset="0"/>
                          <a:ea typeface="Calibri" pitchFamily="34" charset="-122"/>
                          <a:cs typeface="Calibri" pitchFamily="34" charset="-120"/>
                        </a:rPr>
                        <a:t>Account C</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500" dirty="0">
                          <a:solidFill>
                            <a:srgbClr val="F3E7D3"/>
                          </a:solidFill>
                          <a:latin typeface="Calibri" pitchFamily="34" charset="0"/>
                          <a:ea typeface="Calibri" pitchFamily="34" charset="-122"/>
                          <a:cs typeface="Calibri" pitchFamily="34" charset="-120"/>
                        </a:rPr>
                        <a:t>₹4,50,000</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500" dirty="0">
                          <a:solidFill>
                            <a:srgbClr val="E39B2D"/>
                          </a:solidFill>
                          <a:latin typeface="Calibri" pitchFamily="34" charset="0"/>
                          <a:ea typeface="Calibri" pitchFamily="34" charset="-122"/>
                          <a:cs typeface="Calibri" pitchFamily="34" charset="-120"/>
                        </a:rPr>
                        <a:t>₹50,847</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r>
              <a:tr h="640080">
                <a:tc>
                  <a:txBody>
                    <a:bodyPr/>
                    <a:lstStyle/>
                    <a:p>
                      <a:pPr indent="0" marL="0">
                        <a:buNone/>
                      </a:pPr>
                      <a:r>
                        <a:rPr lang="en-US" sz="1500" b="1" dirty="0">
                          <a:solidFill>
                            <a:srgbClr val="F3E7D3"/>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800" b="1" dirty="0">
                          <a:solidFill>
                            <a:srgbClr val="F3E7D3"/>
                          </a:solidFill>
                          <a:latin typeface="Calibri" pitchFamily="34" charset="0"/>
                          <a:ea typeface="Calibri" pitchFamily="34" charset="-122"/>
                          <a:cs typeface="Calibri" pitchFamily="34" charset="-120"/>
                        </a:rPr>
                        <a:t>₹6,70,000</a:t>
                      </a:r>
                      <a:endParaRPr lang="en-US" sz="18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c>
                  <a:txBody>
                    <a:bodyPr/>
                    <a:lstStyle/>
                    <a:p>
                      <a:pPr algn="r" indent="0" marL="0">
                        <a:buNone/>
                      </a:pPr>
                      <a:r>
                        <a:rPr lang="en-US" sz="1800" b="1" dirty="0">
                          <a:solidFill>
                            <a:srgbClr val="E39B2D"/>
                          </a:solidFill>
                          <a:latin typeface="Calibri" pitchFamily="34" charset="0"/>
                          <a:ea typeface="Calibri" pitchFamily="34" charset="-122"/>
                          <a:cs typeface="Calibri" pitchFamily="34" charset="-120"/>
                        </a:rPr>
                        <a:t>₹1,50,847</a:t>
                      </a:r>
                      <a:endParaRPr lang="en-US" sz="1800" dirty="0">
                        <a:latin typeface="Calibri" charset="0"/>
                        <a:ea typeface="Calibri" charset="0"/>
                        <a:cs typeface="Calibri" charset="0"/>
                      </a:endParaRPr>
                    </a:p>
                  </a:txBody>
                  <a:tcPr marL="164592" marR="164592" marT="0" marB="0" anchor="ctr">
                    <a:lnL w="9525" cap="flat" cmpd="sng" algn="ctr">
                      <a:solidFill>
                        <a:srgbClr val="4A372C"/>
                      </a:solidFill>
                      <a:prstDash val="solid"/>
                      <a:round/>
                      <a:headEnd type="none" w="med" len="med"/>
                      <a:tailEnd type="none" w="med" len="med"/>
                    </a:lnL>
                    <a:lnR w="9525" cap="flat" cmpd="sng" algn="ctr">
                      <a:solidFill>
                        <a:srgbClr val="4A372C"/>
                      </a:solidFill>
                      <a:prstDash val="solid"/>
                      <a:round/>
                      <a:headEnd type="none" w="med" len="med"/>
                      <a:tailEnd type="none" w="med" len="med"/>
                    </a:lnR>
                    <a:lnT w="9525" cap="flat" cmpd="sng" algn="ctr">
                      <a:solidFill>
                        <a:srgbClr val="4A372C"/>
                      </a:solidFill>
                      <a:prstDash val="solid"/>
                      <a:round/>
                      <a:headEnd type="none" w="med" len="med"/>
                      <a:tailEnd type="none" w="med" len="med"/>
                    </a:lnT>
                    <a:lnB w="9525" cap="flat" cmpd="sng" algn="ctr">
                      <a:solidFill>
                        <a:srgbClr val="4A372C"/>
                      </a:solidFill>
                      <a:prstDash val="solid"/>
                      <a:round/>
                      <a:headEnd type="none" w="med" len="med"/>
                      <a:tailEnd type="none" w="med" len="med"/>
                    </a:lnB>
                    <a:solidFill>
                      <a:srgbClr val="3A2920"/>
                    </a:solidFill>
                  </a:tcPr>
                </a:tc>
              </a:tr>
            </a:tbl>
          </a:graphicData>
        </a:graphic>
      </p:graphicFrame>
      <p:sp>
        <p:nvSpPr>
          <p:cNvPr id="7" name="Text 4"/>
          <p:cNvSpPr txBox="1"/>
          <p:nvPr/>
        </p:nvSpPr>
        <p:spPr>
          <a:xfrm>
            <a:off x="6858000" y="4617720"/>
            <a:ext cx="4754880" cy="640080"/>
          </a:xfrm>
          <a:prstGeom prst="rect">
            <a:avLst/>
          </a:prstGeom>
          <a:noFill/>
          <a:ln/>
        </p:spPr>
        <p:txBody>
          <a:bodyPr wrap="square" lIns="0" tIns="0" rIns="0" bIns="0" rtlCol="0" anchor="t"/>
          <a:lstStyle/>
          <a:p>
            <a:pPr indent="0" marL="0">
              <a:buNone/>
            </a:pPr>
            <a:r>
              <a:rPr lang="en-US" sz="1400" b="1" dirty="0">
                <a:solidFill>
                  <a:srgbClr val="E39B2D"/>
                </a:solidFill>
                <a:latin typeface="Calibri" pitchFamily="34" charset="0"/>
                <a:ea typeface="Calibri" pitchFamily="34" charset="-122"/>
                <a:cs typeface="Calibri" pitchFamily="34" charset="-120"/>
              </a:rPr>
              <a:t>₹5,19,153</a:t>
            </a:r>
            <a:pPr indent="0" marL="0">
              <a:buNone/>
            </a:pPr>
            <a:r>
              <a:rPr lang="en-US" sz="1400" dirty="0">
                <a:solidFill>
                  <a:srgbClr val="CDB48A"/>
                </a:solidFill>
                <a:latin typeface="Calibri" pitchFamily="34" charset="0"/>
                <a:ea typeface="Calibri" pitchFamily="34" charset="-122"/>
                <a:cs typeface="Calibri" pitchFamily="34" charset="-120"/>
              </a:rPr>
              <a:t> of the account holders' own money would be held without support.</a:t>
            </a:r>
            <a:endParaRPr lang="en-US" sz="1400" dirty="0"/>
          </a:p>
        </p:txBody>
      </p:sp>
      <p:sp>
        <p:nvSpPr>
          <p:cNvPr id="8" name="Text 5"/>
          <p:cNvSpPr txBox="1"/>
          <p:nvPr/>
        </p:nvSpPr>
        <p:spPr>
          <a:xfrm>
            <a:off x="731520" y="6080760"/>
            <a:ext cx="10058400" cy="365760"/>
          </a:xfrm>
          <a:prstGeom prst="rect">
            <a:avLst/>
          </a:prstGeom>
          <a:noFill/>
          <a:ln/>
        </p:spPr>
        <p:txBody>
          <a:bodyPr wrap="square" lIns="0" tIns="0" rIns="0" bIns="0" rtlCol="0" anchor="t"/>
          <a:lstStyle/>
          <a:p>
            <a:pPr indent="0" marL="0">
              <a:buNone/>
            </a:pPr>
            <a:r>
              <a:rPr lang="en-US" sz="1200" dirty="0">
                <a:solidFill>
                  <a:srgbClr val="CDB48A"/>
                </a:solidFill>
                <a:latin typeface="Calibri" pitchFamily="34" charset="0"/>
                <a:ea typeface="Calibri" pitchFamily="34" charset="-122"/>
                <a:cs typeface="Calibri" pitchFamily="34" charset="-120"/>
              </a:rPr>
              <a:t>Lisa Mehta  ·  Built on Exasol Personal  ·  github.com/lisamehta0791/TraceHold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THE PROBLEM</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Holds come too late for victims, and too broad for everyone else</a:t>
            </a:r>
            <a:endParaRPr lang="en-US" sz="2800" dirty="0"/>
          </a:p>
        </p:txBody>
      </p:sp>
      <p:sp>
        <p:nvSpPr>
          <p:cNvPr id="4" name="card"/>
          <p:cNvSpPr/>
          <p:nvPr/>
        </p:nvSpPr>
        <p:spPr>
          <a:xfrm>
            <a:off x="548640" y="1463040"/>
            <a:ext cx="5760720" cy="4617720"/>
          </a:xfrm>
          <a:prstGeom prst="roundRect">
            <a:avLst>
              <a:gd name="adj" fmla="val 1782"/>
            </a:avLst>
          </a:prstGeom>
          <a:solidFill>
            <a:srgbClr val="FFFCF7"/>
          </a:solidFill>
          <a:ln w="9525">
            <a:solidFill>
              <a:srgbClr val="E0D2BC"/>
            </a:solidFill>
            <a:prstDash val="solid"/>
          </a:ln>
        </p:spPr>
      </p:sp>
      <p:sp>
        <p:nvSpPr>
          <p:cNvPr id="5" name="Text 3"/>
          <p:cNvSpPr txBox="1"/>
          <p:nvPr/>
        </p:nvSpPr>
        <p:spPr>
          <a:xfrm>
            <a:off x="868680" y="1719072"/>
            <a:ext cx="5120640" cy="274320"/>
          </a:xfrm>
          <a:prstGeom prst="rect">
            <a:avLst/>
          </a:prstGeom>
          <a:noFill/>
          <a:ln/>
        </p:spPr>
        <p:txBody>
          <a:bodyPr wrap="square" lIns="0" tIns="0" rIns="0" bIns="0" rtlCol="0" anchor="t"/>
          <a:lstStyle/>
          <a:p>
            <a:pPr indent="0" marL="0">
              <a:buNone/>
            </a:pPr>
            <a:r>
              <a:rPr lang="en-US" sz="1100" b="1" spc="200" kern="0" dirty="0">
                <a:solidFill>
                  <a:srgbClr val="C2553A"/>
                </a:solidFill>
                <a:latin typeface="Calibri" pitchFamily="34" charset="0"/>
                <a:ea typeface="Calibri" pitchFamily="34" charset="-122"/>
                <a:cs typeface="Calibri" pitchFamily="34" charset="-120"/>
              </a:rPr>
              <a:t>IN ONE SENTENCE</a:t>
            </a:r>
            <a:endParaRPr lang="en-US" sz="1100" dirty="0"/>
          </a:p>
        </p:txBody>
      </p:sp>
      <p:sp>
        <p:nvSpPr>
          <p:cNvPr id="6" name="Text 4"/>
          <p:cNvSpPr txBox="1"/>
          <p:nvPr/>
        </p:nvSpPr>
        <p:spPr>
          <a:xfrm>
            <a:off x="868680" y="2103120"/>
            <a:ext cx="5120640" cy="2651760"/>
          </a:xfrm>
          <a:prstGeom prst="rect">
            <a:avLst/>
          </a:prstGeom>
          <a:noFill/>
          <a:ln/>
        </p:spPr>
        <p:txBody>
          <a:bodyPr wrap="square" lIns="0" tIns="0" rIns="0" bIns="0" rtlCol="0" anchor="t"/>
          <a:lstStyle/>
          <a:p>
            <a:pPr indent="0" marL="0">
              <a:buNone/>
            </a:pPr>
            <a:r>
              <a:rPr lang="en-US" sz="2000" i="1" dirty="0">
                <a:solidFill>
                  <a:schemeClr val="tx1"/>
                </a:solidFill>
                <a:latin typeface="Cambria" pitchFamily="34" charset="0"/>
                <a:ea typeface="Cambria" pitchFamily="34" charset="-122"/>
                <a:cs typeface="Cambria" pitchFamily="34" charset="-120"/>
              </a:rPr>
              <a:t>An officer deciding how much of an account to hold in a cyber-fraud case can't tell how much of the victim's stolen money actually reached that account, because the money is split, mixed with other funds and moved on within minutes, and requests often arrive without the amount or the trail.</a:t>
            </a:r>
            <a:endParaRPr lang="en-US" sz="2000" dirty="0"/>
          </a:p>
        </p:txBody>
      </p:sp>
      <p:sp>
        <p:nvSpPr>
          <p:cNvPr id="7" name="Text 5"/>
          <p:cNvSpPr txBox="1"/>
          <p:nvPr/>
        </p:nvSpPr>
        <p:spPr>
          <a:xfrm>
            <a:off x="868680" y="4846320"/>
            <a:ext cx="5120640" cy="10972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If this worked, holds would match what the records support, the victim's money would be held sooner, and a person who received one payment would not have their whole balance locked.</a:t>
            </a:r>
            <a:endParaRPr lang="en-US" sz="1400" dirty="0"/>
          </a:p>
        </p:txBody>
      </p:sp>
      <p:sp>
        <p:nvSpPr>
          <p:cNvPr id="8" name="card"/>
          <p:cNvSpPr/>
          <p:nvPr/>
        </p:nvSpPr>
        <p:spPr>
          <a:xfrm>
            <a:off x="6675120" y="1463040"/>
            <a:ext cx="4937760" cy="2194560"/>
          </a:xfrm>
          <a:prstGeom prst="roundRect">
            <a:avLst>
              <a:gd name="adj" fmla="val 3750"/>
            </a:avLst>
          </a:prstGeom>
          <a:solidFill>
            <a:srgbClr val="F8E4DA"/>
          </a:solidFill>
          <a:ln w="9525">
            <a:solidFill>
              <a:srgbClr val="F8E4DA"/>
            </a:solidFill>
            <a:prstDash val="solid"/>
          </a:ln>
        </p:spPr>
      </p:sp>
      <p:sp>
        <p:nvSpPr>
          <p:cNvPr id="9" name="Text 7"/>
          <p:cNvSpPr txBox="1"/>
          <p:nvPr/>
        </p:nvSpPr>
        <p:spPr>
          <a:xfrm>
            <a:off x="6949440" y="1645920"/>
            <a:ext cx="4480560" cy="1920240"/>
          </a:xfrm>
          <a:prstGeom prst="rect">
            <a:avLst/>
          </a:prstGeom>
          <a:noFill/>
          <a:ln/>
        </p:spPr>
        <p:txBody>
          <a:bodyPr wrap="square" lIns="0" tIns="0" rIns="0" bIns="0" rtlCol="0" anchor="t"/>
          <a:lstStyle/>
          <a:p>
            <a:pPr indent="0" marL="0">
              <a:buNone/>
            </a:pPr>
            <a:r>
              <a:rPr lang="en-US" sz="4200" b="1" dirty="0">
                <a:solidFill>
                  <a:srgbClr val="C2553A"/>
                </a:solidFill>
                <a:latin typeface="Cambria" pitchFamily="34" charset="0"/>
                <a:ea typeface="Cambria" pitchFamily="34" charset="-122"/>
                <a:cs typeface="Cambria" pitchFamily="34" charset="-120"/>
              </a:rPr>
              <a:t>₹1,261 cr</a:t>
            </a:r>
            <a:endParaRPr lang="en-US" sz="4200" dirty="0"/>
          </a:p>
          <a:p>
            <a:pPr indent="0" marL="0">
              <a:buNone/>
            </a:pPr>
            <a:r>
              <a:rPr lang="en-US" sz="1500" dirty="0">
                <a:solidFill>
                  <a:schemeClr val="tx1"/>
                </a:solidFill>
                <a:latin typeface="Calibri" pitchFamily="34" charset="0"/>
                <a:ea typeface="Calibri" pitchFamily="34" charset="-122"/>
                <a:cs typeface="Calibri" pitchFamily="34" charset="-120"/>
              </a:rPr>
              <a:t>lost to online fraud in Bengaluru up to Aug 2025, only about 4% traced and returned</a:t>
            </a:r>
            <a:endParaRPr lang="en-US" sz="4200" dirty="0"/>
          </a:p>
          <a:p>
            <a:pPr indent="0" marL="0">
              <a:buNone/>
            </a:pPr>
            <a:r>
              <a:rPr lang="en-US" sz="1100" dirty="0">
                <a:solidFill>
                  <a:srgbClr val="695544"/>
                </a:solidFill>
                <a:latin typeface="Calibri" pitchFamily="34" charset="0"/>
                <a:ea typeface="Calibri" pitchFamily="34" charset="-122"/>
                <a:cs typeface="Calibri" pitchFamily="34" charset="-120"/>
              </a:rPr>
              <a:t>Too late for victims  ·  Deccan Herald, city police data</a:t>
            </a:r>
            <a:endParaRPr lang="en-US" sz="4200" dirty="0"/>
          </a:p>
        </p:txBody>
      </p:sp>
      <p:sp>
        <p:nvSpPr>
          <p:cNvPr id="10" name="card"/>
          <p:cNvSpPr/>
          <p:nvPr/>
        </p:nvSpPr>
        <p:spPr>
          <a:xfrm>
            <a:off x="6675120" y="3886200"/>
            <a:ext cx="4937760" cy="2194560"/>
          </a:xfrm>
          <a:prstGeom prst="roundRect">
            <a:avLst>
              <a:gd name="adj" fmla="val 3750"/>
            </a:avLst>
          </a:prstGeom>
          <a:solidFill>
            <a:srgbClr val="2A1B14"/>
          </a:solidFill>
          <a:ln w="9525">
            <a:solidFill>
              <a:srgbClr val="2A1B14"/>
            </a:solidFill>
            <a:prstDash val="solid"/>
          </a:ln>
        </p:spPr>
      </p:sp>
      <p:sp>
        <p:nvSpPr>
          <p:cNvPr id="11" name="Text 9"/>
          <p:cNvSpPr txBox="1"/>
          <p:nvPr/>
        </p:nvSpPr>
        <p:spPr>
          <a:xfrm>
            <a:off x="6949440" y="4069080"/>
            <a:ext cx="4480560" cy="1920240"/>
          </a:xfrm>
          <a:prstGeom prst="rect">
            <a:avLst/>
          </a:prstGeom>
          <a:noFill/>
          <a:ln/>
        </p:spPr>
        <p:txBody>
          <a:bodyPr wrap="square" lIns="0" tIns="0" rIns="0" bIns="0" rtlCol="0" anchor="t"/>
          <a:lstStyle/>
          <a:p>
            <a:pPr indent="0" marL="0">
              <a:buNone/>
            </a:pPr>
            <a:r>
              <a:rPr lang="en-US" sz="4200" b="1" dirty="0">
                <a:solidFill>
                  <a:srgbClr val="E39B2D"/>
                </a:solidFill>
                <a:latin typeface="Cambria" pitchFamily="34" charset="0"/>
                <a:ea typeface="Cambria" pitchFamily="34" charset="-122"/>
                <a:cs typeface="Cambria" pitchFamily="34" charset="-120"/>
              </a:rPr>
              <a:t>105 petitions</a:t>
            </a:r>
            <a:endParaRPr lang="en-US" sz="4200" dirty="0"/>
          </a:p>
          <a:p>
            <a:pPr indent="0" marL="0">
              <a:buNone/>
            </a:pPr>
            <a:r>
              <a:rPr lang="en-US" sz="1500" dirty="0">
                <a:solidFill>
                  <a:srgbClr val="F3E7D3"/>
                </a:solidFill>
                <a:latin typeface="Calibri" pitchFamily="34" charset="0"/>
                <a:ea typeface="Calibri" pitchFamily="34" charset="-122"/>
                <a:cs typeface="Calibri" pitchFamily="34" charset="-120"/>
              </a:rPr>
              <a:t>whole accounts frozen for disputed sums sometimes under ₹100, freezes continuing after a clean chit</a:t>
            </a:r>
            <a:endParaRPr lang="en-US" sz="4200" dirty="0"/>
          </a:p>
          <a:p>
            <a:pPr indent="0" marL="0">
              <a:buNone/>
            </a:pPr>
            <a:r>
              <a:rPr lang="en-US" sz="1100" dirty="0">
                <a:solidFill>
                  <a:srgbClr val="CDB48A"/>
                </a:solidFill>
                <a:latin typeface="Calibri" pitchFamily="34" charset="0"/>
                <a:ea typeface="Calibri" pitchFamily="34" charset="-122"/>
                <a:cs typeface="Calibri" pitchFamily="34" charset="-120"/>
              </a:rPr>
              <a:t>Too broad for innocent recipients  ·  Rajasthan High Court, Aug 2026 (as reported)</a:t>
            </a:r>
            <a:endParaRPr lang="en-US" sz="42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WHO IS AFFECTED</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Five people live with this problem every day</a:t>
            </a:r>
            <a:endParaRPr lang="en-US" sz="2800" dirty="0"/>
          </a:p>
        </p:txBody>
      </p:sp>
      <p:sp>
        <p:nvSpPr>
          <p:cNvPr id="4" name="pain column"/>
          <p:cNvSpPr/>
          <p:nvPr/>
        </p:nvSpPr>
        <p:spPr>
          <a:xfrm>
            <a:off x="7726680" y="1417320"/>
            <a:ext cx="3931920" cy="4846320"/>
          </a:xfrm>
          <a:prstGeom prst="roundRect">
            <a:avLst>
              <a:gd name="adj" fmla="val 2093"/>
            </a:avLst>
          </a:prstGeom>
          <a:solidFill>
            <a:srgbClr val="F8E4DA"/>
          </a:solidFill>
          <a:ln w="9525">
            <a:solidFill>
              <a:srgbClr val="F8E4DA"/>
            </a:solidFill>
            <a:prstDash val="solid"/>
          </a:ln>
        </p:spPr>
      </p:sp>
      <p:sp>
        <p:nvSpPr>
          <p:cNvPr id="5" name="Text 3"/>
          <p:cNvSpPr txBox="1"/>
          <p:nvPr/>
        </p:nvSpPr>
        <p:spPr>
          <a:xfrm>
            <a:off x="4617720" y="1508760"/>
            <a:ext cx="2926080" cy="274320"/>
          </a:xfrm>
          <a:prstGeom prst="rect">
            <a:avLst/>
          </a:prstGeom>
          <a:noFill/>
          <a:ln/>
        </p:spPr>
        <p:txBody>
          <a:bodyPr wrap="square" lIns="0" tIns="0" rIns="0" bIns="0" rtlCol="0" anchor="t"/>
          <a:lstStyle/>
          <a:p>
            <a:pPr indent="0" marL="0">
              <a:buNone/>
            </a:pPr>
            <a:r>
              <a:rPr lang="en-US" sz="1100" b="1" spc="200" kern="0" dirty="0">
                <a:solidFill>
                  <a:srgbClr val="695544"/>
                </a:solidFill>
                <a:latin typeface="Calibri" pitchFamily="34" charset="0"/>
                <a:ea typeface="Calibri" pitchFamily="34" charset="-122"/>
                <a:cs typeface="Calibri" pitchFamily="34" charset="-120"/>
              </a:rPr>
              <a:t>WHAT THEY NEED</a:t>
            </a:r>
            <a:endParaRPr lang="en-US" sz="1100" dirty="0"/>
          </a:p>
        </p:txBody>
      </p:sp>
      <p:sp>
        <p:nvSpPr>
          <p:cNvPr id="6" name="Text 4"/>
          <p:cNvSpPr txBox="1"/>
          <p:nvPr/>
        </p:nvSpPr>
        <p:spPr>
          <a:xfrm>
            <a:off x="7955280" y="1508760"/>
            <a:ext cx="3566160" cy="274320"/>
          </a:xfrm>
          <a:prstGeom prst="rect">
            <a:avLst/>
          </a:prstGeom>
          <a:noFill/>
          <a:ln/>
        </p:spPr>
        <p:txBody>
          <a:bodyPr wrap="square" lIns="0" tIns="0" rIns="0" bIns="0" rtlCol="0" anchor="t"/>
          <a:lstStyle/>
          <a:p>
            <a:pPr indent="0" marL="0">
              <a:buNone/>
            </a:pPr>
            <a:r>
              <a:rPr lang="en-US" sz="1100" b="1" spc="200" kern="0" dirty="0">
                <a:solidFill>
                  <a:srgbClr val="C2553A"/>
                </a:solidFill>
                <a:latin typeface="Calibri" pitchFamily="34" charset="0"/>
                <a:ea typeface="Calibri" pitchFamily="34" charset="-122"/>
                <a:cs typeface="Calibri" pitchFamily="34" charset="-120"/>
              </a:rPr>
              <a:t>WHAT GOES WRONG TODAY</a:t>
            </a:r>
            <a:endParaRPr lang="en-US" sz="1100" dirty="0"/>
          </a:p>
        </p:txBody>
      </p:sp>
      <p:sp>
        <p:nvSpPr>
          <p:cNvPr id="7" name="person 0"/>
          <p:cNvSpPr/>
          <p:nvPr/>
        </p:nvSpPr>
        <p:spPr>
          <a:xfrm>
            <a:off x="548640" y="1901952"/>
            <a:ext cx="585216" cy="585216"/>
          </a:xfrm>
          <a:prstGeom prst="ellipse">
            <a:avLst/>
          </a:prstGeom>
          <a:solidFill>
            <a:srgbClr val="F8E4DA"/>
          </a:solidFill>
          <a:ln w="12700">
            <a:solidFill>
              <a:srgbClr val="F8E4DA"/>
            </a:solidFill>
            <a:prstDash val="solid"/>
          </a:ln>
        </p:spPr>
      </p:sp>
      <p:pic>
        <p:nvPicPr>
          <p:cNvPr id="8" name="person 0 icon" descr="preencoded.png">    </p:cNvPr>
          <p:cNvPicPr>
            <a:picLocks noChangeAspect="1"/>
          </p:cNvPicPr>
          <p:nvPr/>
        </p:nvPicPr>
        <p:blipFill>
          <a:blip r:embed="rId1"/>
          <a:stretch>
            <a:fillRect/>
          </a:stretch>
        </p:blipFill>
        <p:spPr>
          <a:xfrm>
            <a:off x="694944" y="2048256"/>
            <a:ext cx="292608" cy="292608"/>
          </a:xfrm>
          <a:prstGeom prst="rect">
            <a:avLst/>
          </a:prstGeom>
        </p:spPr>
      </p:pic>
      <p:sp>
        <p:nvSpPr>
          <p:cNvPr id="9" name="Text 6"/>
          <p:cNvSpPr txBox="1"/>
          <p:nvPr/>
        </p:nvSpPr>
        <p:spPr>
          <a:xfrm>
            <a:off x="1325880" y="1901952"/>
            <a:ext cx="3200400" cy="585216"/>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Fraud victim</a:t>
            </a:r>
            <a:endParaRPr lang="en-US" sz="1700" dirty="0"/>
          </a:p>
        </p:txBody>
      </p:sp>
      <p:sp>
        <p:nvSpPr>
          <p:cNvPr id="10" name="Text 7"/>
          <p:cNvSpPr txBox="1"/>
          <p:nvPr/>
        </p:nvSpPr>
        <p:spPr>
          <a:xfrm>
            <a:off x="4617720" y="1901952"/>
            <a:ext cx="2926080" cy="585216"/>
          </a:xfrm>
          <a:prstGeom prst="rect">
            <a:avLst/>
          </a:prstGeom>
          <a:noFill/>
          <a:ln/>
        </p:spPr>
        <p:txBody>
          <a:bodyPr wrap="square" lIns="0" tIns="0" rIns="0" bIns="0" rtlCol="0" anchor="ctr"/>
          <a:lstStyle/>
          <a:p>
            <a:pPr indent="0" marL="0">
              <a:buNone/>
            </a:pPr>
            <a:r>
              <a:rPr lang="en-US" sz="1400" dirty="0">
                <a:solidFill>
                  <a:srgbClr val="5B4636"/>
                </a:solidFill>
                <a:latin typeface="Calibri" pitchFamily="34" charset="0"/>
                <a:ea typeface="Calibri" pitchFamily="34" charset="-122"/>
                <a:cs typeface="Calibri" pitchFamily="34" charset="-120"/>
              </a:rPr>
              <a:t>Wants the money held before it moves on</a:t>
            </a:r>
            <a:endParaRPr lang="en-US" sz="1400" dirty="0"/>
          </a:p>
        </p:txBody>
      </p:sp>
      <p:sp>
        <p:nvSpPr>
          <p:cNvPr id="11" name="Text 8"/>
          <p:cNvSpPr txBox="1"/>
          <p:nvPr/>
        </p:nvSpPr>
        <p:spPr>
          <a:xfrm>
            <a:off x="7955280" y="1901952"/>
            <a:ext cx="356616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Recovery is slow and low; the hold depends on how fast the trail is understood</a:t>
            </a:r>
            <a:endParaRPr lang="en-US" sz="1400" dirty="0"/>
          </a:p>
        </p:txBody>
      </p:sp>
      <p:sp>
        <p:nvSpPr>
          <p:cNvPr id="12" name="row rule 0"/>
          <p:cNvSpPr/>
          <p:nvPr/>
        </p:nvSpPr>
        <p:spPr>
          <a:xfrm>
            <a:off x="1325880" y="2624328"/>
            <a:ext cx="6217920" cy="0"/>
          </a:xfrm>
          <a:prstGeom prst="line">
            <a:avLst/>
          </a:prstGeom>
          <a:noFill/>
          <a:ln w="9525">
            <a:solidFill>
              <a:srgbClr val="E0D2BC"/>
            </a:solidFill>
            <a:prstDash val="solid"/>
          </a:ln>
        </p:spPr>
      </p:sp>
      <p:sp>
        <p:nvSpPr>
          <p:cNvPr id="13" name="person 1"/>
          <p:cNvSpPr/>
          <p:nvPr/>
        </p:nvSpPr>
        <p:spPr>
          <a:xfrm>
            <a:off x="548640" y="2770632"/>
            <a:ext cx="585216" cy="585216"/>
          </a:xfrm>
          <a:prstGeom prst="ellipse">
            <a:avLst/>
          </a:prstGeom>
          <a:solidFill>
            <a:srgbClr val="F8E4DA"/>
          </a:solidFill>
          <a:ln w="12700">
            <a:solidFill>
              <a:srgbClr val="F8E4DA"/>
            </a:solidFill>
            <a:prstDash val="solid"/>
          </a:ln>
        </p:spPr>
      </p:sp>
      <p:pic>
        <p:nvPicPr>
          <p:cNvPr id="14" name="person 1 icon" descr="preencoded.png">    </p:cNvPr>
          <p:cNvPicPr>
            <a:picLocks noChangeAspect="1"/>
          </p:cNvPicPr>
          <p:nvPr/>
        </p:nvPicPr>
        <p:blipFill>
          <a:blip r:embed="rId2"/>
          <a:stretch>
            <a:fillRect/>
          </a:stretch>
        </p:blipFill>
        <p:spPr>
          <a:xfrm>
            <a:off x="694944" y="2916936"/>
            <a:ext cx="292608" cy="292608"/>
          </a:xfrm>
          <a:prstGeom prst="rect">
            <a:avLst/>
          </a:prstGeom>
        </p:spPr>
      </p:pic>
      <p:sp>
        <p:nvSpPr>
          <p:cNvPr id="15" name="Text 11"/>
          <p:cNvSpPr txBox="1"/>
          <p:nvPr/>
        </p:nvSpPr>
        <p:spPr>
          <a:xfrm>
            <a:off x="1325880" y="2770632"/>
            <a:ext cx="3200400" cy="585216"/>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Holder of a downstream account</a:t>
            </a:r>
            <a:endParaRPr lang="en-US" sz="1700" dirty="0"/>
          </a:p>
        </p:txBody>
      </p:sp>
      <p:sp>
        <p:nvSpPr>
          <p:cNvPr id="16" name="Text 12"/>
          <p:cNvSpPr txBox="1"/>
          <p:nvPr/>
        </p:nvSpPr>
        <p:spPr>
          <a:xfrm>
            <a:off x="4617720" y="2770632"/>
            <a:ext cx="2926080" cy="585216"/>
          </a:xfrm>
          <a:prstGeom prst="rect">
            <a:avLst/>
          </a:prstGeom>
          <a:noFill/>
          <a:ln/>
        </p:spPr>
        <p:txBody>
          <a:bodyPr wrap="square" lIns="0" tIns="0" rIns="0" bIns="0" rtlCol="0" anchor="ctr"/>
          <a:lstStyle/>
          <a:p>
            <a:pPr indent="0" marL="0">
              <a:buNone/>
            </a:pPr>
            <a:r>
              <a:rPr lang="en-US" sz="1400" dirty="0">
                <a:solidFill>
                  <a:srgbClr val="5B4636"/>
                </a:solidFill>
                <a:latin typeface="Calibri" pitchFamily="34" charset="0"/>
                <a:ea typeface="Calibri" pitchFamily="34" charset="-122"/>
                <a:cs typeface="Calibri" pitchFamily="34" charset="-120"/>
              </a:rPr>
              <a:t>A restriction limited to what is disputed</a:t>
            </a:r>
            <a:endParaRPr lang="en-US" sz="1400" dirty="0"/>
          </a:p>
        </p:txBody>
      </p:sp>
      <p:sp>
        <p:nvSpPr>
          <p:cNvPr id="17" name="Text 13"/>
          <p:cNvSpPr txBox="1"/>
          <p:nvPr/>
        </p:nvSpPr>
        <p:spPr>
          <a:xfrm>
            <a:off x="7955280" y="2770632"/>
            <a:ext cx="356616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Whole-balance freezes, often without notice or a stated amount</a:t>
            </a:r>
            <a:endParaRPr lang="en-US" sz="1400" dirty="0"/>
          </a:p>
        </p:txBody>
      </p:sp>
      <p:sp>
        <p:nvSpPr>
          <p:cNvPr id="18" name="row rule 1"/>
          <p:cNvSpPr/>
          <p:nvPr/>
        </p:nvSpPr>
        <p:spPr>
          <a:xfrm>
            <a:off x="1325880" y="3493008"/>
            <a:ext cx="6217920" cy="0"/>
          </a:xfrm>
          <a:prstGeom prst="line">
            <a:avLst/>
          </a:prstGeom>
          <a:noFill/>
          <a:ln w="9525">
            <a:solidFill>
              <a:srgbClr val="E0D2BC"/>
            </a:solidFill>
            <a:prstDash val="solid"/>
          </a:ln>
        </p:spPr>
      </p:sp>
      <p:sp>
        <p:nvSpPr>
          <p:cNvPr id="19" name="person 2"/>
          <p:cNvSpPr/>
          <p:nvPr/>
        </p:nvSpPr>
        <p:spPr>
          <a:xfrm>
            <a:off x="548640" y="3639312"/>
            <a:ext cx="585216" cy="585216"/>
          </a:xfrm>
          <a:prstGeom prst="ellipse">
            <a:avLst/>
          </a:prstGeom>
          <a:solidFill>
            <a:srgbClr val="F8E4DA"/>
          </a:solidFill>
          <a:ln w="12700">
            <a:solidFill>
              <a:srgbClr val="F8E4DA"/>
            </a:solidFill>
            <a:prstDash val="solid"/>
          </a:ln>
        </p:spPr>
      </p:sp>
      <p:pic>
        <p:nvPicPr>
          <p:cNvPr id="20" name="person 2 icon" descr="preencoded.png">    </p:cNvPr>
          <p:cNvPicPr>
            <a:picLocks noChangeAspect="1"/>
          </p:cNvPicPr>
          <p:nvPr/>
        </p:nvPicPr>
        <p:blipFill>
          <a:blip r:embed="rId3"/>
          <a:stretch>
            <a:fillRect/>
          </a:stretch>
        </p:blipFill>
        <p:spPr>
          <a:xfrm>
            <a:off x="694944" y="3785616"/>
            <a:ext cx="292608" cy="292608"/>
          </a:xfrm>
          <a:prstGeom prst="rect">
            <a:avLst/>
          </a:prstGeom>
        </p:spPr>
      </p:pic>
      <p:sp>
        <p:nvSpPr>
          <p:cNvPr id="21" name="Text 16"/>
          <p:cNvSpPr txBox="1"/>
          <p:nvPr/>
        </p:nvSpPr>
        <p:spPr>
          <a:xfrm>
            <a:off x="1325880" y="3639312"/>
            <a:ext cx="3200400" cy="585216"/>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Officer at the police cyber cell</a:t>
            </a:r>
            <a:endParaRPr lang="en-US" sz="1700" dirty="0"/>
          </a:p>
        </p:txBody>
      </p:sp>
      <p:sp>
        <p:nvSpPr>
          <p:cNvPr id="22" name="Text 17"/>
          <p:cNvSpPr txBox="1"/>
          <p:nvPr/>
        </p:nvSpPr>
        <p:spPr>
          <a:xfrm>
            <a:off x="4617720" y="3639312"/>
            <a:ext cx="2926080" cy="585216"/>
          </a:xfrm>
          <a:prstGeom prst="rect">
            <a:avLst/>
          </a:prstGeom>
          <a:noFill/>
          <a:ln/>
        </p:spPr>
        <p:txBody>
          <a:bodyPr wrap="square" lIns="0" tIns="0" rIns="0" bIns="0" rtlCol="0" anchor="ctr"/>
          <a:lstStyle/>
          <a:p>
            <a:pPr indent="0" marL="0">
              <a:buNone/>
            </a:pPr>
            <a:r>
              <a:rPr lang="en-US" sz="1400" dirty="0">
                <a:solidFill>
                  <a:srgbClr val="5B4636"/>
                </a:solidFill>
                <a:latin typeface="Calibri" pitchFamily="34" charset="0"/>
                <a:ea typeface="Calibri" pitchFamily="34" charset="-122"/>
                <a:cs typeface="Calibri" pitchFamily="34" charset="-120"/>
              </a:rPr>
              <a:t>To state the amount and basis of a hold</a:t>
            </a:r>
            <a:endParaRPr lang="en-US" sz="1400" dirty="0"/>
          </a:p>
        </p:txBody>
      </p:sp>
      <p:sp>
        <p:nvSpPr>
          <p:cNvPr id="23" name="Text 18"/>
          <p:cNvSpPr txBox="1"/>
          <p:nvPr/>
        </p:nvSpPr>
        <p:spPr>
          <a:xfrm>
            <a:off x="7955280" y="3639312"/>
            <a:ext cx="356616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The trail spans many accounts; mixed funds blur the disputed share</a:t>
            </a:r>
            <a:endParaRPr lang="en-US" sz="1400" dirty="0"/>
          </a:p>
        </p:txBody>
      </p:sp>
      <p:sp>
        <p:nvSpPr>
          <p:cNvPr id="24" name="row rule 2"/>
          <p:cNvSpPr/>
          <p:nvPr/>
        </p:nvSpPr>
        <p:spPr>
          <a:xfrm>
            <a:off x="1325880" y="4361688"/>
            <a:ext cx="6217920" cy="0"/>
          </a:xfrm>
          <a:prstGeom prst="line">
            <a:avLst/>
          </a:prstGeom>
          <a:noFill/>
          <a:ln w="9525">
            <a:solidFill>
              <a:srgbClr val="E0D2BC"/>
            </a:solidFill>
            <a:prstDash val="solid"/>
          </a:ln>
        </p:spPr>
      </p:sp>
      <p:sp>
        <p:nvSpPr>
          <p:cNvPr id="25" name="person 3"/>
          <p:cNvSpPr/>
          <p:nvPr/>
        </p:nvSpPr>
        <p:spPr>
          <a:xfrm>
            <a:off x="548640" y="4507992"/>
            <a:ext cx="585216" cy="585216"/>
          </a:xfrm>
          <a:prstGeom prst="ellipse">
            <a:avLst/>
          </a:prstGeom>
          <a:solidFill>
            <a:srgbClr val="F8E4DA"/>
          </a:solidFill>
          <a:ln w="12700">
            <a:solidFill>
              <a:srgbClr val="F8E4DA"/>
            </a:solidFill>
            <a:prstDash val="solid"/>
          </a:ln>
        </p:spPr>
      </p:sp>
      <p:pic>
        <p:nvPicPr>
          <p:cNvPr id="26" name="person 3 icon" descr="preencoded.png">    </p:cNvPr>
          <p:cNvPicPr>
            <a:picLocks noChangeAspect="1"/>
          </p:cNvPicPr>
          <p:nvPr/>
        </p:nvPicPr>
        <p:blipFill>
          <a:blip r:embed="rId4"/>
          <a:stretch>
            <a:fillRect/>
          </a:stretch>
        </p:blipFill>
        <p:spPr>
          <a:xfrm>
            <a:off x="694944" y="4654296"/>
            <a:ext cx="292608" cy="292608"/>
          </a:xfrm>
          <a:prstGeom prst="rect">
            <a:avLst/>
          </a:prstGeom>
        </p:spPr>
      </p:pic>
      <p:sp>
        <p:nvSpPr>
          <p:cNvPr id="27" name="Text 21"/>
          <p:cNvSpPr txBox="1"/>
          <p:nvPr/>
        </p:nvSpPr>
        <p:spPr>
          <a:xfrm>
            <a:off x="1325880" y="4507992"/>
            <a:ext cx="3200400" cy="585216"/>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Bank nodal officer</a:t>
            </a:r>
            <a:endParaRPr lang="en-US" sz="1700" dirty="0"/>
          </a:p>
        </p:txBody>
      </p:sp>
      <p:sp>
        <p:nvSpPr>
          <p:cNvPr id="28" name="Text 22"/>
          <p:cNvSpPr txBox="1"/>
          <p:nvPr/>
        </p:nvSpPr>
        <p:spPr>
          <a:xfrm>
            <a:off x="4617720" y="4507992"/>
            <a:ext cx="2926080" cy="585216"/>
          </a:xfrm>
          <a:prstGeom prst="rect">
            <a:avLst/>
          </a:prstGeom>
          <a:noFill/>
          <a:ln/>
        </p:spPr>
        <p:txBody>
          <a:bodyPr wrap="square" lIns="0" tIns="0" rIns="0" bIns="0" rtlCol="0" anchor="ctr"/>
          <a:lstStyle/>
          <a:p>
            <a:pPr indent="0" marL="0">
              <a:buNone/>
            </a:pPr>
            <a:r>
              <a:rPr lang="en-US" sz="1400" dirty="0">
                <a:solidFill>
                  <a:srgbClr val="5B4636"/>
                </a:solidFill>
                <a:latin typeface="Calibri" pitchFamily="34" charset="0"/>
                <a:ea typeface="Calibri" pitchFamily="34" charset="-122"/>
                <a:cs typeface="Calibri" pitchFamily="34" charset="-120"/>
              </a:rPr>
              <a:t>To act lawfully and promptly</a:t>
            </a:r>
            <a:endParaRPr lang="en-US" sz="1400" dirty="0"/>
          </a:p>
        </p:txBody>
      </p:sp>
      <p:sp>
        <p:nvSpPr>
          <p:cNvPr id="29" name="Text 23"/>
          <p:cNvSpPr txBox="1"/>
          <p:nvPr/>
        </p:nvSpPr>
        <p:spPr>
          <a:xfrm>
            <a:off x="7955280" y="4507992"/>
            <a:ext cx="356616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No way to check a requested amount, so blanket freezing is the safe default</a:t>
            </a:r>
            <a:endParaRPr lang="en-US" sz="1400" dirty="0"/>
          </a:p>
        </p:txBody>
      </p:sp>
      <p:sp>
        <p:nvSpPr>
          <p:cNvPr id="30" name="row rule 3"/>
          <p:cNvSpPr/>
          <p:nvPr/>
        </p:nvSpPr>
        <p:spPr>
          <a:xfrm>
            <a:off x="1325880" y="5230368"/>
            <a:ext cx="6217920" cy="0"/>
          </a:xfrm>
          <a:prstGeom prst="line">
            <a:avLst/>
          </a:prstGeom>
          <a:noFill/>
          <a:ln w="9525">
            <a:solidFill>
              <a:srgbClr val="E0D2BC"/>
            </a:solidFill>
            <a:prstDash val="solid"/>
          </a:ln>
        </p:spPr>
      </p:sp>
      <p:sp>
        <p:nvSpPr>
          <p:cNvPr id="31" name="person 4"/>
          <p:cNvSpPr/>
          <p:nvPr/>
        </p:nvSpPr>
        <p:spPr>
          <a:xfrm>
            <a:off x="548640" y="5376672"/>
            <a:ext cx="585216" cy="585216"/>
          </a:xfrm>
          <a:prstGeom prst="ellipse">
            <a:avLst/>
          </a:prstGeom>
          <a:solidFill>
            <a:srgbClr val="F8E4DA"/>
          </a:solidFill>
          <a:ln w="12700">
            <a:solidFill>
              <a:srgbClr val="F8E4DA"/>
            </a:solidFill>
            <a:prstDash val="solid"/>
          </a:ln>
        </p:spPr>
      </p:sp>
      <p:pic>
        <p:nvPicPr>
          <p:cNvPr id="32" name="person 4 icon" descr="preencoded.png">    </p:cNvPr>
          <p:cNvPicPr>
            <a:picLocks noChangeAspect="1"/>
          </p:cNvPicPr>
          <p:nvPr/>
        </p:nvPicPr>
        <p:blipFill>
          <a:blip r:embed="rId5"/>
          <a:stretch>
            <a:fillRect/>
          </a:stretch>
        </p:blipFill>
        <p:spPr>
          <a:xfrm>
            <a:off x="694944" y="5522976"/>
            <a:ext cx="292608" cy="292608"/>
          </a:xfrm>
          <a:prstGeom prst="rect">
            <a:avLst/>
          </a:prstGeom>
        </p:spPr>
      </p:pic>
      <p:sp>
        <p:nvSpPr>
          <p:cNvPr id="33" name="Text 26"/>
          <p:cNvSpPr txBox="1"/>
          <p:nvPr/>
        </p:nvSpPr>
        <p:spPr>
          <a:xfrm>
            <a:off x="1325880" y="5376672"/>
            <a:ext cx="3200400" cy="585216"/>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State oversight officer</a:t>
            </a:r>
            <a:endParaRPr lang="en-US" sz="1700" dirty="0"/>
          </a:p>
        </p:txBody>
      </p:sp>
      <p:sp>
        <p:nvSpPr>
          <p:cNvPr id="34" name="Text 27"/>
          <p:cNvSpPr txBox="1"/>
          <p:nvPr/>
        </p:nvSpPr>
        <p:spPr>
          <a:xfrm>
            <a:off x="4617720" y="5376672"/>
            <a:ext cx="2926080" cy="585216"/>
          </a:xfrm>
          <a:prstGeom prst="rect">
            <a:avLst/>
          </a:prstGeom>
          <a:noFill/>
          <a:ln/>
        </p:spPr>
        <p:txBody>
          <a:bodyPr wrap="square" lIns="0" tIns="0" rIns="0" bIns="0" rtlCol="0" anchor="ctr"/>
          <a:lstStyle/>
          <a:p>
            <a:pPr indent="0" marL="0">
              <a:buNone/>
            </a:pPr>
            <a:r>
              <a:rPr lang="en-US" sz="1400" dirty="0">
                <a:solidFill>
                  <a:srgbClr val="5B4636"/>
                </a:solidFill>
                <a:latin typeface="Calibri" pitchFamily="34" charset="0"/>
                <a:ea typeface="Calibri" pitchFamily="34" charset="-122"/>
                <a:cs typeface="Calibri" pitchFamily="34" charset="-120"/>
              </a:rPr>
              <a:t>To spot prolonged or disproportionate freezes</a:t>
            </a:r>
            <a:endParaRPr lang="en-US" sz="1400" dirty="0"/>
          </a:p>
        </p:txBody>
      </p:sp>
      <p:sp>
        <p:nvSpPr>
          <p:cNvPr id="35" name="Text 28"/>
          <p:cNvSpPr txBox="1"/>
          <p:nvPr/>
        </p:nvSpPr>
        <p:spPr>
          <a:xfrm>
            <a:off x="7955280" y="5376672"/>
            <a:ext cx="3566160" cy="58521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No consolidated view of how long holds last or how big they are</a:t>
            </a:r>
            <a:endParaRPr lang="en-US" sz="14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WHY TODAY'S APPROACH FAILS</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rule exists. The calculator does not.</a:t>
            </a:r>
            <a:endParaRPr lang="en-US" sz="2800" dirty="0"/>
          </a:p>
        </p:txBody>
      </p:sp>
      <p:sp>
        <p:nvSpPr>
          <p:cNvPr id="4" name="card"/>
          <p:cNvSpPr/>
          <p:nvPr/>
        </p:nvSpPr>
        <p:spPr>
          <a:xfrm>
            <a:off x="548640" y="1508760"/>
            <a:ext cx="5440680" cy="1554480"/>
          </a:xfrm>
          <a:prstGeom prst="roundRect">
            <a:avLst>
              <a:gd name="adj" fmla="val 5294"/>
            </a:avLst>
          </a:prstGeom>
          <a:solidFill>
            <a:srgbClr val="FFFCF7"/>
          </a:solidFill>
          <a:ln w="9525">
            <a:solidFill>
              <a:srgbClr val="E0D2BC"/>
            </a:solidFill>
            <a:prstDash val="solid"/>
          </a:ln>
        </p:spPr>
      </p:sp>
      <p:sp>
        <p:nvSpPr>
          <p:cNvPr id="5" name="badge 1"/>
          <p:cNvSpPr/>
          <p:nvPr/>
        </p:nvSpPr>
        <p:spPr>
          <a:xfrm>
            <a:off x="822960" y="1783080"/>
            <a:ext cx="457200" cy="457200"/>
          </a:xfrm>
          <a:prstGeom prst="ellipse">
            <a:avLst/>
          </a:prstGeom>
          <a:solidFill>
            <a:srgbClr val="C2553A"/>
          </a:solidFill>
          <a:ln w="12700">
            <a:solidFill>
              <a:srgbClr val="C2553A"/>
            </a:solidFill>
            <a:prstDash val="solid"/>
          </a:ln>
        </p:spPr>
      </p:sp>
      <p:sp>
        <p:nvSpPr>
          <p:cNvPr id="6" name="Text 4"/>
          <p:cNvSpPr txBox="1"/>
          <p:nvPr/>
        </p:nvSpPr>
        <p:spPr>
          <a:xfrm>
            <a:off x="822960" y="1783080"/>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508760" y="1764792"/>
            <a:ext cx="425196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Money moves in minutes</a:t>
            </a:r>
            <a:endParaRPr lang="en-US" sz="1900" dirty="0"/>
          </a:p>
        </p:txBody>
      </p:sp>
      <p:sp>
        <p:nvSpPr>
          <p:cNvPr id="8" name="Text 6"/>
          <p:cNvSpPr txBox="1"/>
          <p:nvPr/>
        </p:nvSpPr>
        <p:spPr>
          <a:xfrm>
            <a:off x="1508760" y="2240280"/>
            <a:ext cx="4251960" cy="73152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Requests are made before the full trail is known.</a:t>
            </a:r>
            <a:endParaRPr lang="en-US" sz="1400" dirty="0"/>
          </a:p>
        </p:txBody>
      </p:sp>
      <p:sp>
        <p:nvSpPr>
          <p:cNvPr id="9" name="card"/>
          <p:cNvSpPr/>
          <p:nvPr/>
        </p:nvSpPr>
        <p:spPr>
          <a:xfrm>
            <a:off x="6172200" y="1508760"/>
            <a:ext cx="5440680" cy="1554480"/>
          </a:xfrm>
          <a:prstGeom prst="roundRect">
            <a:avLst>
              <a:gd name="adj" fmla="val 5294"/>
            </a:avLst>
          </a:prstGeom>
          <a:solidFill>
            <a:srgbClr val="FFFCF7"/>
          </a:solidFill>
          <a:ln w="9525">
            <a:solidFill>
              <a:srgbClr val="E0D2BC"/>
            </a:solidFill>
            <a:prstDash val="solid"/>
          </a:ln>
        </p:spPr>
      </p:sp>
      <p:sp>
        <p:nvSpPr>
          <p:cNvPr id="10" name="badge 2"/>
          <p:cNvSpPr/>
          <p:nvPr/>
        </p:nvSpPr>
        <p:spPr>
          <a:xfrm>
            <a:off x="6446520" y="1783080"/>
            <a:ext cx="457200" cy="457200"/>
          </a:xfrm>
          <a:prstGeom prst="ellipse">
            <a:avLst/>
          </a:prstGeom>
          <a:solidFill>
            <a:srgbClr val="C2553A"/>
          </a:solidFill>
          <a:ln w="12700">
            <a:solidFill>
              <a:srgbClr val="C2553A"/>
            </a:solidFill>
            <a:prstDash val="solid"/>
          </a:ln>
        </p:spPr>
      </p:sp>
      <p:sp>
        <p:nvSpPr>
          <p:cNvPr id="11" name="Text 9"/>
          <p:cNvSpPr txBox="1"/>
          <p:nvPr/>
        </p:nvSpPr>
        <p:spPr>
          <a:xfrm>
            <a:off x="6446520" y="1783080"/>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132320" y="1764792"/>
            <a:ext cx="425196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Requests arrive incomplete</a:t>
            </a:r>
            <a:endParaRPr lang="en-US" sz="1900" dirty="0"/>
          </a:p>
        </p:txBody>
      </p:sp>
      <p:sp>
        <p:nvSpPr>
          <p:cNvPr id="13" name="Text 11"/>
          <p:cNvSpPr txBox="1"/>
          <p:nvPr/>
        </p:nvSpPr>
        <p:spPr>
          <a:xfrm>
            <a:off x="7132320" y="2240280"/>
            <a:ext cx="4251960" cy="73152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Missing reference, legal provision, transaction or amount.</a:t>
            </a:r>
            <a:endParaRPr lang="en-US" sz="1400" dirty="0"/>
          </a:p>
        </p:txBody>
      </p:sp>
      <p:sp>
        <p:nvSpPr>
          <p:cNvPr id="14" name="card"/>
          <p:cNvSpPr/>
          <p:nvPr/>
        </p:nvSpPr>
        <p:spPr>
          <a:xfrm>
            <a:off x="548640" y="3246120"/>
            <a:ext cx="5440680" cy="1554480"/>
          </a:xfrm>
          <a:prstGeom prst="roundRect">
            <a:avLst>
              <a:gd name="adj" fmla="val 5294"/>
            </a:avLst>
          </a:prstGeom>
          <a:solidFill>
            <a:srgbClr val="FFFCF7"/>
          </a:solidFill>
          <a:ln w="9525">
            <a:solidFill>
              <a:srgbClr val="E0D2BC"/>
            </a:solidFill>
            <a:prstDash val="solid"/>
          </a:ln>
        </p:spPr>
      </p:sp>
      <p:sp>
        <p:nvSpPr>
          <p:cNvPr id="15" name="badge 3"/>
          <p:cNvSpPr/>
          <p:nvPr/>
        </p:nvSpPr>
        <p:spPr>
          <a:xfrm>
            <a:off x="822960" y="3520440"/>
            <a:ext cx="457200" cy="457200"/>
          </a:xfrm>
          <a:prstGeom prst="ellipse">
            <a:avLst/>
          </a:prstGeom>
          <a:solidFill>
            <a:srgbClr val="C2553A"/>
          </a:solidFill>
          <a:ln w="12700">
            <a:solidFill>
              <a:srgbClr val="C2553A"/>
            </a:solidFill>
            <a:prstDash val="solid"/>
          </a:ln>
        </p:spPr>
      </p:sp>
      <p:sp>
        <p:nvSpPr>
          <p:cNvPr id="16" name="Text 14"/>
          <p:cNvSpPr txBox="1"/>
          <p:nvPr/>
        </p:nvSpPr>
        <p:spPr>
          <a:xfrm>
            <a:off x="822960" y="3520440"/>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508760" y="3502152"/>
            <a:ext cx="425196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Mixed money has no label</a:t>
            </a:r>
            <a:endParaRPr lang="en-US" sz="1900" dirty="0"/>
          </a:p>
        </p:txBody>
      </p:sp>
      <p:sp>
        <p:nvSpPr>
          <p:cNvPr id="18" name="Text 16"/>
          <p:cNvSpPr txBox="1"/>
          <p:nvPr/>
        </p:nvSpPr>
        <p:spPr>
          <a:xfrm>
            <a:off x="1508760" y="3977640"/>
            <a:ext cx="4251960" cy="73152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Which part is 'disputed' depends on a convention; without one, the only safe choice is the whole balance.</a:t>
            </a:r>
            <a:endParaRPr lang="en-US" sz="1400" dirty="0"/>
          </a:p>
        </p:txBody>
      </p:sp>
      <p:sp>
        <p:nvSpPr>
          <p:cNvPr id="19" name="card"/>
          <p:cNvSpPr/>
          <p:nvPr/>
        </p:nvSpPr>
        <p:spPr>
          <a:xfrm>
            <a:off x="6172200" y="3246120"/>
            <a:ext cx="5440680" cy="1554480"/>
          </a:xfrm>
          <a:prstGeom prst="roundRect">
            <a:avLst>
              <a:gd name="adj" fmla="val 5294"/>
            </a:avLst>
          </a:prstGeom>
          <a:solidFill>
            <a:srgbClr val="FFFCF7"/>
          </a:solidFill>
          <a:ln w="9525">
            <a:solidFill>
              <a:srgbClr val="E0D2BC"/>
            </a:solidFill>
            <a:prstDash val="solid"/>
          </a:ln>
        </p:spPr>
      </p:sp>
      <p:sp>
        <p:nvSpPr>
          <p:cNvPr id="20" name="badge 4"/>
          <p:cNvSpPr/>
          <p:nvPr/>
        </p:nvSpPr>
        <p:spPr>
          <a:xfrm>
            <a:off x="6446520" y="3520440"/>
            <a:ext cx="457200" cy="457200"/>
          </a:xfrm>
          <a:prstGeom prst="ellipse">
            <a:avLst/>
          </a:prstGeom>
          <a:solidFill>
            <a:srgbClr val="C2553A"/>
          </a:solidFill>
          <a:ln w="12700">
            <a:solidFill>
              <a:srgbClr val="C2553A"/>
            </a:solidFill>
            <a:prstDash val="solid"/>
          </a:ln>
        </p:spPr>
      </p:sp>
      <p:sp>
        <p:nvSpPr>
          <p:cNvPr id="21" name="Text 19"/>
          <p:cNvSpPr txBox="1"/>
          <p:nvPr/>
        </p:nvSpPr>
        <p:spPr>
          <a:xfrm>
            <a:off x="6446520" y="3520440"/>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132320" y="3502152"/>
            <a:ext cx="425196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Holds outlive their purpose</a:t>
            </a:r>
            <a:endParaRPr lang="en-US" sz="1900" dirty="0"/>
          </a:p>
        </p:txBody>
      </p:sp>
      <p:sp>
        <p:nvSpPr>
          <p:cNvPr id="23" name="Text 21"/>
          <p:cNvSpPr txBox="1"/>
          <p:nvPr/>
        </p:nvSpPr>
        <p:spPr>
          <a:xfrm>
            <a:off x="7132320" y="3977640"/>
            <a:ext cx="4251960" cy="73152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Freezes continue after closure; holds above ₹50,000 have no timeline.</a:t>
            </a:r>
            <a:endParaRPr lang="en-US" sz="1400" dirty="0"/>
          </a:p>
        </p:txBody>
      </p:sp>
      <p:sp>
        <p:nvSpPr>
          <p:cNvPr id="24" name="card"/>
          <p:cNvSpPr/>
          <p:nvPr/>
        </p:nvSpPr>
        <p:spPr>
          <a:xfrm>
            <a:off x="548640" y="5120640"/>
            <a:ext cx="11064240" cy="1005840"/>
          </a:xfrm>
          <a:prstGeom prst="roundRect">
            <a:avLst>
              <a:gd name="adj" fmla="val 8182"/>
            </a:avLst>
          </a:prstGeom>
          <a:solidFill>
            <a:srgbClr val="2A1B14"/>
          </a:solidFill>
          <a:ln w="9525">
            <a:solidFill>
              <a:srgbClr val="2A1B14"/>
            </a:solidFill>
            <a:prstDash val="solid"/>
          </a:ln>
        </p:spPr>
      </p:sp>
      <p:sp>
        <p:nvSpPr>
          <p:cNvPr id="25" name="Text 23"/>
          <p:cNvSpPr txBox="1"/>
          <p:nvPr/>
        </p:nvSpPr>
        <p:spPr>
          <a:xfrm>
            <a:off x="868680" y="5120640"/>
            <a:ext cx="10515600" cy="1005840"/>
          </a:xfrm>
          <a:prstGeom prst="rect">
            <a:avLst/>
          </a:prstGeom>
          <a:noFill/>
          <a:ln/>
        </p:spPr>
        <p:txBody>
          <a:bodyPr wrap="square" lIns="0" tIns="0" rIns="0" bIns="0" rtlCol="0" anchor="ctr"/>
          <a:lstStyle/>
          <a:p>
            <a:pPr indent="0" marL="0">
              <a:buNone/>
            </a:pPr>
            <a:r>
              <a:rPr lang="en-US" sz="1700" b="1" dirty="0">
                <a:solidFill>
                  <a:srgbClr val="E39B2D"/>
                </a:solidFill>
                <a:latin typeface="Calibri" pitchFamily="34" charset="0"/>
                <a:ea typeface="Calibri" pitchFamily="34" charset="-122"/>
                <a:cs typeface="Calibri" pitchFamily="34" charset="-120"/>
              </a:rPr>
              <a:t>The rule already exists: </a:t>
            </a:r>
            <a:pPr indent="0" marL="0">
              <a:buNone/>
            </a:pPr>
            <a:r>
              <a:rPr lang="en-US" sz="1700" dirty="0">
                <a:solidFill>
                  <a:srgbClr val="F3E7D3"/>
                </a:solidFill>
                <a:latin typeface="Calibri" pitchFamily="34" charset="0"/>
                <a:ea typeface="Calibri" pitchFamily="34" charset="-122"/>
                <a:cs typeface="Calibri" pitchFamily="34" charset="-120"/>
              </a:rPr>
              <a:t>hold the disputed sum, not the account (MHA procedure, Jan 2026). What is missing is the calculator. TraceHold is that calculator.</a:t>
            </a:r>
            <a:endParaRPr lang="en-US" sz="17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THE SOLUTION</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TraceHold sizes the hold the records can defend</a:t>
            </a:r>
            <a:endParaRPr lang="en-US" sz="2800" dirty="0"/>
          </a:p>
        </p:txBody>
      </p:sp>
      <p:sp>
        <p:nvSpPr>
          <p:cNvPr id="4" name="Text 2"/>
          <p:cNvSpPr txBox="1"/>
          <p:nvPr/>
        </p:nvSpPr>
        <p:spPr>
          <a:xfrm>
            <a:off x="548640" y="1417320"/>
            <a:ext cx="6766560" cy="365760"/>
          </a:xfrm>
          <a:prstGeom prst="rect">
            <a:avLst/>
          </a:prstGeom>
          <a:noFill/>
          <a:ln/>
        </p:spPr>
        <p:txBody>
          <a:bodyPr wrap="square" lIns="0" tIns="0" rIns="0" bIns="0" rtlCol="0" anchor="t"/>
          <a:lstStyle/>
          <a:p>
            <a:pPr indent="0" marL="0">
              <a:buNone/>
            </a:pPr>
            <a:r>
              <a:rPr lang="en-US" sz="1500" dirty="0">
                <a:solidFill>
                  <a:srgbClr val="5B4636"/>
                </a:solidFill>
                <a:latin typeface="Calibri" pitchFamily="34" charset="0"/>
                <a:ea typeface="Calibri" pitchFamily="34" charset="-122"/>
                <a:cs typeface="Calibri" pitchFamily="34" charset="-120"/>
              </a:rPr>
              <a:t>₹1,00,000 is stolen and passes through three accounts. The police ask to freeze all three.</a:t>
            </a:r>
            <a:endParaRPr lang="en-US" sz="1500" dirty="0"/>
          </a:p>
        </p:txBody>
      </p:sp>
      <p:graphicFrame>
        <p:nvGraphicFramePr>
          <p:cNvPr id="5" name="worked example chart" descr=""/>
          <p:cNvGraphicFramePr/>
          <p:nvPr/>
        </p:nvGraphicFramePr>
        <p:xfrm>
          <a:off x="548640" y="182880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680960" y="1463040"/>
            <a:ext cx="3931920" cy="2148840"/>
          </a:xfrm>
          <a:prstGeom prst="roundRect">
            <a:avLst>
              <a:gd name="adj" fmla="val 3830"/>
            </a:avLst>
          </a:prstGeom>
          <a:solidFill>
            <a:srgbClr val="6E7B3A"/>
          </a:solidFill>
          <a:ln w="9525">
            <a:solidFill>
              <a:srgbClr val="6E7B3A"/>
            </a:solidFill>
            <a:prstDash val="solid"/>
          </a:ln>
        </p:spPr>
      </p:sp>
      <p:sp>
        <p:nvSpPr>
          <p:cNvPr id="7" name="Text 4"/>
          <p:cNvSpPr txBox="1"/>
          <p:nvPr/>
        </p:nvSpPr>
        <p:spPr>
          <a:xfrm>
            <a:off x="7955280" y="1645920"/>
            <a:ext cx="3474720" cy="1874520"/>
          </a:xfrm>
          <a:prstGeom prst="rect">
            <a:avLst/>
          </a:prstGeom>
          <a:noFill/>
          <a:ln/>
        </p:spPr>
        <p:txBody>
          <a:bodyPr wrap="square" lIns="0" tIns="0" rIns="0" bIns="0" rtlCol="0" anchor="t"/>
          <a:lstStyle/>
          <a:p>
            <a:pPr indent="0" marL="0">
              <a:buNone/>
            </a:pPr>
            <a:r>
              <a:rPr lang="en-US" sz="4200" b="1" dirty="0">
                <a:solidFill>
                  <a:srgbClr val="FFFCF7"/>
                </a:solidFill>
                <a:latin typeface="Cambria" pitchFamily="34" charset="0"/>
                <a:ea typeface="Cambria" pitchFamily="34" charset="-122"/>
                <a:cs typeface="Cambria" pitchFamily="34" charset="-120"/>
              </a:rPr>
              <a:t>₹5,19,153</a:t>
            </a:r>
            <a:endParaRPr lang="en-US" sz="4200" dirty="0"/>
          </a:p>
          <a:p>
            <a:pPr indent="0" marL="0">
              <a:buNone/>
            </a:pPr>
            <a:r>
              <a:rPr lang="en-US" sz="1500" dirty="0">
                <a:solidFill>
                  <a:srgbClr val="EAEDD9"/>
                </a:solidFill>
                <a:latin typeface="Calibri" pitchFamily="34" charset="0"/>
                <a:ea typeface="Calibri" pitchFamily="34" charset="-122"/>
                <a:cs typeface="Calibri" pitchFamily="34" charset="-120"/>
              </a:rPr>
              <a:t>of the account holders' own money does not need to be restricted</a:t>
            </a:r>
            <a:endParaRPr lang="en-US" sz="4200" dirty="0"/>
          </a:p>
        </p:txBody>
      </p:sp>
      <p:sp>
        <p:nvSpPr>
          <p:cNvPr id="8" name="Text 5"/>
          <p:cNvSpPr txBox="1"/>
          <p:nvPr/>
        </p:nvSpPr>
        <p:spPr>
          <a:xfrm>
            <a:off x="7680960" y="3840480"/>
            <a:ext cx="39319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Every account gets a range under two disclosed methods (pro-rata and FIFO), a status, and the full calculation.</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 proportionate hold instruction is drafted for the officer.</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Every rupee of the loss is accounted for: a conservation check.</a:t>
            </a:r>
            <a:endParaRPr lang="en-US" sz="14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THE PRODUCT</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verdict comes first: asked to hold vs supported by the records</a:t>
            </a:r>
            <a:endParaRPr lang="en-US" sz="2800" dirty="0"/>
          </a:p>
        </p:txBody>
      </p:sp>
      <p:pic>
        <p:nvPicPr>
          <p:cNvPr id="4" name="screenshot 02-live-analysis.jpg" descr="C:\Users\lisam\Projects\LienLens\docs\screenshots\02-live-analysis.jpg">    </p:cNvPr>
          <p:cNvPicPr>
            <a:picLocks noChangeAspect="1"/>
          </p:cNvPicPr>
          <p:nvPr/>
        </p:nvPicPr>
        <p:blipFill>
          <a:blip r:embed="rId1"/>
          <a:stretch>
            <a:fillRect/>
          </a:stretch>
        </p:blipFill>
        <p:spPr>
          <a:xfrm>
            <a:off x="548640" y="1463040"/>
            <a:ext cx="7498080" cy="4686300"/>
          </a:xfrm>
          <a:prstGeom prst="rect">
            <a:avLst/>
          </a:prstGeom>
        </p:spPr>
      </p:pic>
      <p:sp>
        <p:nvSpPr>
          <p:cNvPr id="5" name="frame 02-live-analysis.jpg"/>
          <p:cNvSpPr/>
          <p:nvPr/>
        </p:nvSpPr>
        <p:spPr>
          <a:xfrm>
            <a:off x="548640" y="1463040"/>
            <a:ext cx="7498080" cy="4686300"/>
          </a:xfrm>
          <a:prstGeom prst="rect">
            <a:avLst/>
          </a:prstGeom>
          <a:ln w="12700">
            <a:solidFill>
              <a:srgbClr val="E0D2BC"/>
            </a:solidFill>
            <a:prstDash val="solid"/>
          </a:ln>
        </p:spPr>
      </p:sp>
      <p:sp>
        <p:nvSpPr>
          <p:cNvPr id="6" name="badge 1"/>
          <p:cNvSpPr/>
          <p:nvPr/>
        </p:nvSpPr>
        <p:spPr>
          <a:xfrm>
            <a:off x="8366760" y="1508760"/>
            <a:ext cx="420624" cy="420624"/>
          </a:xfrm>
          <a:prstGeom prst="ellipse">
            <a:avLst/>
          </a:prstGeom>
          <a:solidFill>
            <a:srgbClr val="6E7B3A"/>
          </a:solidFill>
          <a:ln w="12700">
            <a:solidFill>
              <a:srgbClr val="6E7B3A"/>
            </a:solidFill>
            <a:prstDash val="solid"/>
          </a:ln>
        </p:spPr>
      </p:sp>
      <p:sp>
        <p:nvSpPr>
          <p:cNvPr id="7" name="Text 4"/>
          <p:cNvSpPr txBox="1"/>
          <p:nvPr/>
        </p:nvSpPr>
        <p:spPr>
          <a:xfrm>
            <a:off x="8366760" y="1508760"/>
            <a:ext cx="420624" cy="420624"/>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8961120" y="1472184"/>
            <a:ext cx="269748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Pick a case or paste a police letter</a:t>
            </a:r>
            <a:endParaRPr lang="en-US" sz="1600" dirty="0"/>
          </a:p>
        </p:txBody>
      </p:sp>
      <p:sp>
        <p:nvSpPr>
          <p:cNvPr id="9" name="Text 6"/>
          <p:cNvSpPr txBox="1"/>
          <p:nvPr/>
        </p:nvSpPr>
        <p:spPr>
          <a:xfrm>
            <a:off x="8961120" y="2057400"/>
            <a:ext cx="2697480" cy="86868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Five demo cases, your own values, or a free-text letter read with AI.</a:t>
            </a:r>
            <a:endParaRPr lang="en-US" sz="1300" dirty="0"/>
          </a:p>
        </p:txBody>
      </p:sp>
      <p:sp>
        <p:nvSpPr>
          <p:cNvPr id="10" name="badge 2"/>
          <p:cNvSpPr/>
          <p:nvPr/>
        </p:nvSpPr>
        <p:spPr>
          <a:xfrm>
            <a:off x="8366760" y="3081528"/>
            <a:ext cx="420624" cy="420624"/>
          </a:xfrm>
          <a:prstGeom prst="ellipse">
            <a:avLst/>
          </a:prstGeom>
          <a:solidFill>
            <a:srgbClr val="6E7B3A"/>
          </a:solidFill>
          <a:ln w="12700">
            <a:solidFill>
              <a:srgbClr val="6E7B3A"/>
            </a:solidFill>
            <a:prstDash val="solid"/>
          </a:ln>
        </p:spPr>
      </p:sp>
      <p:sp>
        <p:nvSpPr>
          <p:cNvPr id="11" name="Text 8"/>
          <p:cNvSpPr txBox="1"/>
          <p:nvPr/>
        </p:nvSpPr>
        <p:spPr>
          <a:xfrm>
            <a:off x="8366760" y="3081528"/>
            <a:ext cx="420624" cy="420624"/>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8961120" y="3044952"/>
            <a:ext cx="269748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Run it inside Exasol</a:t>
            </a:r>
            <a:endParaRPr lang="en-US" sz="1600" dirty="0"/>
          </a:p>
        </p:txBody>
      </p:sp>
      <p:sp>
        <p:nvSpPr>
          <p:cNvPr id="13" name="Text 10"/>
          <p:cNvSpPr txBox="1"/>
          <p:nvPr/>
        </p:nvSpPr>
        <p:spPr>
          <a:xfrm>
            <a:off x="8961120" y="3630168"/>
            <a:ext cx="2697480" cy="86868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Around 10 seconds; every figure computed by SQL.</a:t>
            </a:r>
            <a:endParaRPr lang="en-US" sz="1300" dirty="0"/>
          </a:p>
        </p:txBody>
      </p:sp>
      <p:sp>
        <p:nvSpPr>
          <p:cNvPr id="14" name="badge 3"/>
          <p:cNvSpPr/>
          <p:nvPr/>
        </p:nvSpPr>
        <p:spPr>
          <a:xfrm>
            <a:off x="8366760" y="4654296"/>
            <a:ext cx="420624" cy="420624"/>
          </a:xfrm>
          <a:prstGeom prst="ellipse">
            <a:avLst/>
          </a:prstGeom>
          <a:solidFill>
            <a:srgbClr val="6E7B3A"/>
          </a:solidFill>
          <a:ln w="12700">
            <a:solidFill>
              <a:srgbClr val="6E7B3A"/>
            </a:solidFill>
            <a:prstDash val="solid"/>
          </a:ln>
        </p:spPr>
      </p:sp>
      <p:sp>
        <p:nvSpPr>
          <p:cNvPr id="15" name="Text 12"/>
          <p:cNvSpPr txBox="1"/>
          <p:nvPr/>
        </p:nvSpPr>
        <p:spPr>
          <a:xfrm>
            <a:off x="8366760" y="4654296"/>
            <a:ext cx="420624" cy="420624"/>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3</a:t>
            </a:r>
            <a:endParaRPr lang="en-US" sz="1600" dirty="0"/>
          </a:p>
        </p:txBody>
      </p:sp>
      <p:sp>
        <p:nvSpPr>
          <p:cNvPr id="16" name="Text 13"/>
          <p:cNvSpPr txBox="1"/>
          <p:nvPr/>
        </p:nvSpPr>
        <p:spPr>
          <a:xfrm>
            <a:off x="8961120" y="4617720"/>
            <a:ext cx="269748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Read the verdict, then the six steps</a:t>
            </a:r>
            <a:endParaRPr lang="en-US" sz="1600" dirty="0"/>
          </a:p>
        </p:txBody>
      </p:sp>
      <p:sp>
        <p:nvSpPr>
          <p:cNvPr id="17" name="Text 14"/>
          <p:cNvSpPr txBox="1"/>
          <p:nvPr/>
        </p:nvSpPr>
        <p:spPr>
          <a:xfrm>
            <a:off x="8961120" y="5202936"/>
            <a:ext cx="2697480" cy="86868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Request check, money trail, sizing, comparison, hold draft, and the SQL that ran.</a:t>
            </a:r>
            <a:endParaRPr lang="en-US" sz="13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HOW IT WORKS</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From a vague request to a figure you can defend</a:t>
            </a:r>
            <a:endParaRPr lang="en-US" sz="2800" dirty="0"/>
          </a:p>
        </p:txBody>
      </p:sp>
      <p:sp>
        <p:nvSpPr>
          <p:cNvPr id="4" name="card"/>
          <p:cNvSpPr/>
          <p:nvPr/>
        </p:nvSpPr>
        <p:spPr>
          <a:xfrm>
            <a:off x="548640" y="1508760"/>
            <a:ext cx="2103120" cy="3611880"/>
          </a:xfrm>
          <a:prstGeom prst="roundRect">
            <a:avLst>
              <a:gd name="adj" fmla="val 3913"/>
            </a:avLst>
          </a:prstGeom>
          <a:solidFill>
            <a:srgbClr val="FFFCF7"/>
          </a:solidFill>
          <a:ln w="9525">
            <a:solidFill>
              <a:srgbClr val="E0D2BC"/>
            </a:solidFill>
            <a:prstDash val="solid"/>
          </a:ln>
        </p:spPr>
      </p:sp>
      <p:sp>
        <p:nvSpPr>
          <p:cNvPr id="5" name="step 0"/>
          <p:cNvSpPr/>
          <p:nvPr/>
        </p:nvSpPr>
        <p:spPr>
          <a:xfrm>
            <a:off x="777240" y="1737360"/>
            <a:ext cx="685800" cy="685800"/>
          </a:xfrm>
          <a:prstGeom prst="ellipse">
            <a:avLst/>
          </a:prstGeom>
          <a:solidFill>
            <a:srgbClr val="EAEDD9"/>
          </a:solidFill>
          <a:ln w="12700">
            <a:solidFill>
              <a:srgbClr val="EAEDD9"/>
            </a:solidFill>
            <a:prstDash val="solid"/>
          </a:ln>
        </p:spPr>
      </p:sp>
      <p:pic>
        <p:nvPicPr>
          <p:cNvPr id="6" name="step 0 icon" descr="preencoded.png">    </p:cNvPr>
          <p:cNvPicPr>
            <a:picLocks noChangeAspect="1"/>
          </p:cNvPicPr>
          <p:nvPr/>
        </p:nvPicPr>
        <p:blipFill>
          <a:blip r:embed="rId1"/>
          <a:stretch>
            <a:fillRect/>
          </a:stretch>
        </p:blipFill>
        <p:spPr>
          <a:xfrm>
            <a:off x="948690" y="1908810"/>
            <a:ext cx="342900" cy="342900"/>
          </a:xfrm>
          <a:prstGeom prst="rect">
            <a:avLst/>
          </a:prstGeom>
        </p:spPr>
      </p:pic>
      <p:sp>
        <p:nvSpPr>
          <p:cNvPr id="7" name="Text 4"/>
          <p:cNvSpPr txBox="1"/>
          <p:nvPr/>
        </p:nvSpPr>
        <p:spPr>
          <a:xfrm>
            <a:off x="1920240" y="1828800"/>
            <a:ext cx="548640" cy="457200"/>
          </a:xfrm>
          <a:prstGeom prst="rect">
            <a:avLst/>
          </a:prstGeom>
          <a:noFill/>
          <a:ln/>
        </p:spPr>
        <p:txBody>
          <a:bodyPr wrap="square" lIns="0" tIns="0" rIns="0" bIns="0" rtlCol="0" anchor="t"/>
          <a:lstStyle/>
          <a:p>
            <a:pPr algn="r" indent="0" marL="0">
              <a:buNone/>
            </a:pPr>
            <a:r>
              <a:rPr lang="en-US" sz="1400" b="1" dirty="0">
                <a:solidFill>
                  <a:srgbClr val="B98B6A"/>
                </a:solidFill>
                <a:latin typeface="Calibri" pitchFamily="34" charset="0"/>
                <a:ea typeface="Calibri" pitchFamily="34" charset="-122"/>
                <a:cs typeface="Calibri" pitchFamily="34" charset="-120"/>
              </a:rPr>
              <a:t>01</a:t>
            </a:r>
            <a:endParaRPr lang="en-US" sz="1400" dirty="0"/>
          </a:p>
        </p:txBody>
      </p:sp>
      <p:sp>
        <p:nvSpPr>
          <p:cNvPr id="8" name="Text 5"/>
          <p:cNvSpPr txBox="1"/>
          <p:nvPr/>
        </p:nvSpPr>
        <p:spPr>
          <a:xfrm>
            <a:off x="777240" y="2651760"/>
            <a:ext cx="169164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Check the request</a:t>
            </a:r>
            <a:endParaRPr lang="en-US" sz="1800" dirty="0"/>
          </a:p>
        </p:txBody>
      </p:sp>
      <p:sp>
        <p:nvSpPr>
          <p:cNvPr id="9" name="Text 6"/>
          <p:cNvSpPr txBox="1"/>
          <p:nvPr/>
        </p:nvSpPr>
        <p:spPr>
          <a:xfrm>
            <a:off x="777240" y="3474720"/>
            <a:ext cx="1691640" cy="15544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Checklist from court directions; AI reads free-text letters, rules verify every field</a:t>
            </a:r>
            <a:endParaRPr lang="en-US" sz="1400" dirty="0"/>
          </a:p>
        </p:txBody>
      </p:sp>
      <p:sp>
        <p:nvSpPr>
          <p:cNvPr id="10" name="card"/>
          <p:cNvSpPr/>
          <p:nvPr/>
        </p:nvSpPr>
        <p:spPr>
          <a:xfrm>
            <a:off x="2788920" y="1508760"/>
            <a:ext cx="2103120" cy="3611880"/>
          </a:xfrm>
          <a:prstGeom prst="roundRect">
            <a:avLst>
              <a:gd name="adj" fmla="val 3913"/>
            </a:avLst>
          </a:prstGeom>
          <a:solidFill>
            <a:srgbClr val="FFFCF7"/>
          </a:solidFill>
          <a:ln w="9525">
            <a:solidFill>
              <a:srgbClr val="E0D2BC"/>
            </a:solidFill>
            <a:prstDash val="solid"/>
          </a:ln>
        </p:spPr>
      </p:sp>
      <p:sp>
        <p:nvSpPr>
          <p:cNvPr id="11" name="step 1"/>
          <p:cNvSpPr/>
          <p:nvPr/>
        </p:nvSpPr>
        <p:spPr>
          <a:xfrm>
            <a:off x="3017520" y="1737360"/>
            <a:ext cx="685800" cy="685800"/>
          </a:xfrm>
          <a:prstGeom prst="ellipse">
            <a:avLst/>
          </a:prstGeom>
          <a:solidFill>
            <a:srgbClr val="EAEDD9"/>
          </a:solidFill>
          <a:ln w="12700">
            <a:solidFill>
              <a:srgbClr val="EAEDD9"/>
            </a:solidFill>
            <a:prstDash val="solid"/>
          </a:ln>
        </p:spPr>
      </p:sp>
      <p:pic>
        <p:nvPicPr>
          <p:cNvPr id="12" name="step 1 icon" descr="preencoded.png">    </p:cNvPr>
          <p:cNvPicPr>
            <a:picLocks noChangeAspect="1"/>
          </p:cNvPicPr>
          <p:nvPr/>
        </p:nvPicPr>
        <p:blipFill>
          <a:blip r:embed="rId2"/>
          <a:stretch>
            <a:fillRect/>
          </a:stretch>
        </p:blipFill>
        <p:spPr>
          <a:xfrm>
            <a:off x="3188970" y="1908810"/>
            <a:ext cx="342900" cy="342900"/>
          </a:xfrm>
          <a:prstGeom prst="rect">
            <a:avLst/>
          </a:prstGeom>
        </p:spPr>
      </p:pic>
      <p:sp>
        <p:nvSpPr>
          <p:cNvPr id="13" name="Text 9"/>
          <p:cNvSpPr txBox="1"/>
          <p:nvPr/>
        </p:nvSpPr>
        <p:spPr>
          <a:xfrm>
            <a:off x="4160520" y="1828800"/>
            <a:ext cx="548640" cy="457200"/>
          </a:xfrm>
          <a:prstGeom prst="rect">
            <a:avLst/>
          </a:prstGeom>
          <a:noFill/>
          <a:ln/>
        </p:spPr>
        <p:txBody>
          <a:bodyPr wrap="square" lIns="0" tIns="0" rIns="0" bIns="0" rtlCol="0" anchor="t"/>
          <a:lstStyle/>
          <a:p>
            <a:pPr algn="r" indent="0" marL="0">
              <a:buNone/>
            </a:pPr>
            <a:r>
              <a:rPr lang="en-US" sz="1400" b="1" dirty="0">
                <a:solidFill>
                  <a:srgbClr val="B98B6A"/>
                </a:solidFill>
                <a:latin typeface="Calibri" pitchFamily="34" charset="0"/>
                <a:ea typeface="Calibri" pitchFamily="34" charset="-122"/>
                <a:cs typeface="Calibri" pitchFamily="34" charset="-120"/>
              </a:rPr>
              <a:t>02</a:t>
            </a:r>
            <a:endParaRPr lang="en-US" sz="1400" dirty="0"/>
          </a:p>
        </p:txBody>
      </p:sp>
      <p:sp>
        <p:nvSpPr>
          <p:cNvPr id="14" name="Text 10"/>
          <p:cNvSpPr txBox="1"/>
          <p:nvPr/>
        </p:nvSpPr>
        <p:spPr>
          <a:xfrm>
            <a:off x="3017520" y="2651760"/>
            <a:ext cx="169164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Rebuild the trail</a:t>
            </a:r>
            <a:endParaRPr lang="en-US" sz="1800" dirty="0"/>
          </a:p>
        </p:txBody>
      </p:sp>
      <p:sp>
        <p:nvSpPr>
          <p:cNvPr id="15" name="Text 11"/>
          <p:cNvSpPr txBox="1"/>
          <p:nvPr/>
        </p:nvSpPr>
        <p:spPr>
          <a:xfrm>
            <a:off x="3017520" y="3474720"/>
            <a:ext cx="1691640" cy="15544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Hop by hop, through splits, merges, loops, reversals, duplicates and clock skew</a:t>
            </a:r>
            <a:endParaRPr lang="en-US" sz="1400" dirty="0"/>
          </a:p>
        </p:txBody>
      </p:sp>
      <p:sp>
        <p:nvSpPr>
          <p:cNvPr id="16" name="card"/>
          <p:cNvSpPr/>
          <p:nvPr/>
        </p:nvSpPr>
        <p:spPr>
          <a:xfrm>
            <a:off x="5029200" y="1508760"/>
            <a:ext cx="2103120" cy="3611880"/>
          </a:xfrm>
          <a:prstGeom prst="roundRect">
            <a:avLst>
              <a:gd name="adj" fmla="val 3913"/>
            </a:avLst>
          </a:prstGeom>
          <a:solidFill>
            <a:srgbClr val="EAEDD9"/>
          </a:solidFill>
          <a:ln w="9525">
            <a:solidFill>
              <a:srgbClr val="EAEDD9"/>
            </a:solidFill>
            <a:prstDash val="solid"/>
          </a:ln>
        </p:spPr>
      </p:sp>
      <p:sp>
        <p:nvSpPr>
          <p:cNvPr id="17" name="step 2"/>
          <p:cNvSpPr/>
          <p:nvPr/>
        </p:nvSpPr>
        <p:spPr>
          <a:xfrm>
            <a:off x="5257800" y="1737360"/>
            <a:ext cx="685800" cy="685800"/>
          </a:xfrm>
          <a:prstGeom prst="ellipse">
            <a:avLst/>
          </a:prstGeom>
          <a:solidFill>
            <a:srgbClr val="FFFCF7"/>
          </a:solidFill>
          <a:ln w="12700">
            <a:solidFill>
              <a:srgbClr val="FFFCF7"/>
            </a:solidFill>
            <a:prstDash val="solid"/>
          </a:ln>
        </p:spPr>
      </p:sp>
      <p:pic>
        <p:nvPicPr>
          <p:cNvPr id="18" name="step 2 icon" descr="preencoded.png">    </p:cNvPr>
          <p:cNvPicPr>
            <a:picLocks noChangeAspect="1"/>
          </p:cNvPicPr>
          <p:nvPr/>
        </p:nvPicPr>
        <p:blipFill>
          <a:blip r:embed="rId3"/>
          <a:stretch>
            <a:fillRect/>
          </a:stretch>
        </p:blipFill>
        <p:spPr>
          <a:xfrm>
            <a:off x="5429250" y="1908810"/>
            <a:ext cx="342900" cy="342900"/>
          </a:xfrm>
          <a:prstGeom prst="rect">
            <a:avLst/>
          </a:prstGeom>
        </p:spPr>
      </p:pic>
      <p:sp>
        <p:nvSpPr>
          <p:cNvPr id="19" name="Text 14"/>
          <p:cNvSpPr txBox="1"/>
          <p:nvPr/>
        </p:nvSpPr>
        <p:spPr>
          <a:xfrm>
            <a:off x="6400800" y="1828800"/>
            <a:ext cx="548640" cy="457200"/>
          </a:xfrm>
          <a:prstGeom prst="rect">
            <a:avLst/>
          </a:prstGeom>
          <a:noFill/>
          <a:ln/>
        </p:spPr>
        <p:txBody>
          <a:bodyPr wrap="square" lIns="0" tIns="0" rIns="0" bIns="0" rtlCol="0" anchor="t"/>
          <a:lstStyle/>
          <a:p>
            <a:pPr algn="r" indent="0" marL="0">
              <a:buNone/>
            </a:pPr>
            <a:r>
              <a:rPr lang="en-US" sz="1400" b="1" dirty="0">
                <a:solidFill>
                  <a:srgbClr val="B98B6A"/>
                </a:solidFill>
                <a:latin typeface="Calibri" pitchFamily="34" charset="0"/>
                <a:ea typeface="Calibri" pitchFamily="34" charset="-122"/>
                <a:cs typeface="Calibri" pitchFamily="34" charset="-120"/>
              </a:rPr>
              <a:t>03</a:t>
            </a:r>
            <a:endParaRPr lang="en-US" sz="1400" dirty="0"/>
          </a:p>
        </p:txBody>
      </p:sp>
      <p:sp>
        <p:nvSpPr>
          <p:cNvPr id="20" name="Text 15"/>
          <p:cNvSpPr txBox="1"/>
          <p:nvPr/>
        </p:nvSpPr>
        <p:spPr>
          <a:xfrm>
            <a:off x="5257800" y="2651760"/>
            <a:ext cx="169164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Size every account</a:t>
            </a:r>
            <a:endParaRPr lang="en-US" sz="1800" dirty="0"/>
          </a:p>
        </p:txBody>
      </p:sp>
      <p:sp>
        <p:nvSpPr>
          <p:cNvPr id="21" name="Text 16"/>
          <p:cNvSpPr txBox="1"/>
          <p:nvPr/>
        </p:nvSpPr>
        <p:spPr>
          <a:xfrm>
            <a:off x="5257800" y="3474720"/>
            <a:ext cx="1691640" cy="15544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Pro-rata and FIFO ranges, traceable share, status; abstains when records are missing</a:t>
            </a:r>
            <a:endParaRPr lang="en-US" sz="1400" dirty="0"/>
          </a:p>
        </p:txBody>
      </p:sp>
      <p:sp>
        <p:nvSpPr>
          <p:cNvPr id="22" name="card"/>
          <p:cNvSpPr/>
          <p:nvPr/>
        </p:nvSpPr>
        <p:spPr>
          <a:xfrm>
            <a:off x="7269480" y="1508760"/>
            <a:ext cx="2103120" cy="3611880"/>
          </a:xfrm>
          <a:prstGeom prst="roundRect">
            <a:avLst>
              <a:gd name="adj" fmla="val 3913"/>
            </a:avLst>
          </a:prstGeom>
          <a:solidFill>
            <a:srgbClr val="FFFCF7"/>
          </a:solidFill>
          <a:ln w="9525">
            <a:solidFill>
              <a:srgbClr val="E0D2BC"/>
            </a:solidFill>
            <a:prstDash val="solid"/>
          </a:ln>
        </p:spPr>
      </p:sp>
      <p:sp>
        <p:nvSpPr>
          <p:cNvPr id="23" name="step 3"/>
          <p:cNvSpPr/>
          <p:nvPr/>
        </p:nvSpPr>
        <p:spPr>
          <a:xfrm>
            <a:off x="7498080" y="1737360"/>
            <a:ext cx="685800" cy="685800"/>
          </a:xfrm>
          <a:prstGeom prst="ellipse">
            <a:avLst/>
          </a:prstGeom>
          <a:solidFill>
            <a:srgbClr val="EAEDD9"/>
          </a:solidFill>
          <a:ln w="12700">
            <a:solidFill>
              <a:srgbClr val="EAEDD9"/>
            </a:solidFill>
            <a:prstDash val="solid"/>
          </a:ln>
        </p:spPr>
      </p:sp>
      <p:pic>
        <p:nvPicPr>
          <p:cNvPr id="24" name="step 3 icon" descr="preencoded.png">    </p:cNvPr>
          <p:cNvPicPr>
            <a:picLocks noChangeAspect="1"/>
          </p:cNvPicPr>
          <p:nvPr/>
        </p:nvPicPr>
        <p:blipFill>
          <a:blip r:embed="rId4"/>
          <a:stretch>
            <a:fillRect/>
          </a:stretch>
        </p:blipFill>
        <p:spPr>
          <a:xfrm>
            <a:off x="7669530" y="1908810"/>
            <a:ext cx="342900" cy="342900"/>
          </a:xfrm>
          <a:prstGeom prst="rect">
            <a:avLst/>
          </a:prstGeom>
        </p:spPr>
      </p:pic>
      <p:sp>
        <p:nvSpPr>
          <p:cNvPr id="25" name="Text 19"/>
          <p:cNvSpPr txBox="1"/>
          <p:nvPr/>
        </p:nvSpPr>
        <p:spPr>
          <a:xfrm>
            <a:off x="8641080" y="1828800"/>
            <a:ext cx="548640" cy="457200"/>
          </a:xfrm>
          <a:prstGeom prst="rect">
            <a:avLst/>
          </a:prstGeom>
          <a:noFill/>
          <a:ln/>
        </p:spPr>
        <p:txBody>
          <a:bodyPr wrap="square" lIns="0" tIns="0" rIns="0" bIns="0" rtlCol="0" anchor="t"/>
          <a:lstStyle/>
          <a:p>
            <a:pPr algn="r" indent="0" marL="0">
              <a:buNone/>
            </a:pPr>
            <a:r>
              <a:rPr lang="en-US" sz="1400" b="1" dirty="0">
                <a:solidFill>
                  <a:srgbClr val="B98B6A"/>
                </a:solidFill>
                <a:latin typeface="Calibri" pitchFamily="34" charset="0"/>
                <a:ea typeface="Calibri" pitchFamily="34" charset="-122"/>
                <a:cs typeface="Calibri" pitchFamily="34" charset="-120"/>
              </a:rPr>
              <a:t>04</a:t>
            </a:r>
            <a:endParaRPr lang="en-US" sz="1400" dirty="0"/>
          </a:p>
        </p:txBody>
      </p:sp>
      <p:sp>
        <p:nvSpPr>
          <p:cNvPr id="26" name="Text 20"/>
          <p:cNvSpPr txBox="1"/>
          <p:nvPr/>
        </p:nvSpPr>
        <p:spPr>
          <a:xfrm>
            <a:off x="7498080" y="2651760"/>
            <a:ext cx="169164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Compare with the request</a:t>
            </a:r>
            <a:endParaRPr lang="en-US" sz="1800" dirty="0"/>
          </a:p>
        </p:txBody>
      </p:sp>
      <p:sp>
        <p:nvSpPr>
          <p:cNvPr id="27" name="Text 21"/>
          <p:cNvSpPr txBox="1"/>
          <p:nvPr/>
        </p:nvSpPr>
        <p:spPr>
          <a:xfrm>
            <a:off x="7498080" y="3474720"/>
            <a:ext cx="1691640" cy="15544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Within evidence, within range, exceeds evidence, or cannot determine</a:t>
            </a:r>
            <a:endParaRPr lang="en-US" sz="1400" dirty="0"/>
          </a:p>
        </p:txBody>
      </p:sp>
      <p:sp>
        <p:nvSpPr>
          <p:cNvPr id="28" name="card"/>
          <p:cNvSpPr/>
          <p:nvPr/>
        </p:nvSpPr>
        <p:spPr>
          <a:xfrm>
            <a:off x="9509760" y="1508760"/>
            <a:ext cx="2103120" cy="3611880"/>
          </a:xfrm>
          <a:prstGeom prst="roundRect">
            <a:avLst>
              <a:gd name="adj" fmla="val 3913"/>
            </a:avLst>
          </a:prstGeom>
          <a:solidFill>
            <a:srgbClr val="FFFCF7"/>
          </a:solidFill>
          <a:ln w="9525">
            <a:solidFill>
              <a:srgbClr val="E0D2BC"/>
            </a:solidFill>
            <a:prstDash val="solid"/>
          </a:ln>
        </p:spPr>
      </p:sp>
      <p:sp>
        <p:nvSpPr>
          <p:cNvPr id="29" name="step 4"/>
          <p:cNvSpPr/>
          <p:nvPr/>
        </p:nvSpPr>
        <p:spPr>
          <a:xfrm>
            <a:off x="9738360" y="1737360"/>
            <a:ext cx="685800" cy="685800"/>
          </a:xfrm>
          <a:prstGeom prst="ellipse">
            <a:avLst/>
          </a:prstGeom>
          <a:solidFill>
            <a:srgbClr val="EAEDD9"/>
          </a:solidFill>
          <a:ln w="12700">
            <a:solidFill>
              <a:srgbClr val="EAEDD9"/>
            </a:solidFill>
            <a:prstDash val="solid"/>
          </a:ln>
        </p:spPr>
      </p:sp>
      <p:pic>
        <p:nvPicPr>
          <p:cNvPr id="30" name="step 4 icon" descr="preencoded.png">    </p:cNvPr>
          <p:cNvPicPr>
            <a:picLocks noChangeAspect="1"/>
          </p:cNvPicPr>
          <p:nvPr/>
        </p:nvPicPr>
        <p:blipFill>
          <a:blip r:embed="rId5"/>
          <a:stretch>
            <a:fillRect/>
          </a:stretch>
        </p:blipFill>
        <p:spPr>
          <a:xfrm>
            <a:off x="9909810" y="1908810"/>
            <a:ext cx="342900" cy="342900"/>
          </a:xfrm>
          <a:prstGeom prst="rect">
            <a:avLst/>
          </a:prstGeom>
        </p:spPr>
      </p:pic>
      <p:sp>
        <p:nvSpPr>
          <p:cNvPr id="31" name="Text 24"/>
          <p:cNvSpPr txBox="1"/>
          <p:nvPr/>
        </p:nvSpPr>
        <p:spPr>
          <a:xfrm>
            <a:off x="10881360" y="1828800"/>
            <a:ext cx="548640" cy="457200"/>
          </a:xfrm>
          <a:prstGeom prst="rect">
            <a:avLst/>
          </a:prstGeom>
          <a:noFill/>
          <a:ln/>
        </p:spPr>
        <p:txBody>
          <a:bodyPr wrap="square" lIns="0" tIns="0" rIns="0" bIns="0" rtlCol="0" anchor="t"/>
          <a:lstStyle/>
          <a:p>
            <a:pPr algn="r" indent="0" marL="0">
              <a:buNone/>
            </a:pPr>
            <a:r>
              <a:rPr lang="en-US" sz="1400" b="1" dirty="0">
                <a:solidFill>
                  <a:srgbClr val="B98B6A"/>
                </a:solidFill>
                <a:latin typeface="Calibri" pitchFamily="34" charset="0"/>
                <a:ea typeface="Calibri" pitchFamily="34" charset="-122"/>
                <a:cs typeface="Calibri" pitchFamily="34" charset="-120"/>
              </a:rPr>
              <a:t>05</a:t>
            </a:r>
            <a:endParaRPr lang="en-US" sz="1400" dirty="0"/>
          </a:p>
        </p:txBody>
      </p:sp>
      <p:sp>
        <p:nvSpPr>
          <p:cNvPr id="32" name="Text 25"/>
          <p:cNvSpPr txBox="1"/>
          <p:nvPr/>
        </p:nvSpPr>
        <p:spPr>
          <a:xfrm>
            <a:off x="9738360" y="2651760"/>
            <a:ext cx="169164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Hand over the evidence</a:t>
            </a:r>
            <a:endParaRPr lang="en-US" sz="1800" dirty="0"/>
          </a:p>
        </p:txBody>
      </p:sp>
      <p:sp>
        <p:nvSpPr>
          <p:cNvPr id="33" name="Text 26"/>
          <p:cNvSpPr txBox="1"/>
          <p:nvPr/>
        </p:nvSpPr>
        <p:spPr>
          <a:xfrm>
            <a:off x="9738360" y="3474720"/>
            <a:ext cx="1691640" cy="15544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Evidence packet, plain-language letter, proportionate hold, forwarded requests</a:t>
            </a:r>
            <a:endParaRPr lang="en-US" sz="1400" dirty="0"/>
          </a:p>
        </p:txBody>
      </p:sp>
      <p:sp>
        <p:nvSpPr>
          <p:cNvPr id="34" name="card"/>
          <p:cNvSpPr/>
          <p:nvPr/>
        </p:nvSpPr>
        <p:spPr>
          <a:xfrm>
            <a:off x="548640" y="5349240"/>
            <a:ext cx="11064240" cy="731520"/>
          </a:xfrm>
          <a:prstGeom prst="roundRect">
            <a:avLst>
              <a:gd name="adj" fmla="val 11250"/>
            </a:avLst>
          </a:prstGeom>
          <a:solidFill>
            <a:srgbClr val="2A1B14"/>
          </a:solidFill>
          <a:ln w="9525">
            <a:solidFill>
              <a:srgbClr val="2A1B14"/>
            </a:solidFill>
            <a:prstDash val="solid"/>
          </a:ln>
        </p:spPr>
      </p:sp>
      <p:sp>
        <p:nvSpPr>
          <p:cNvPr id="35" name="Text 28"/>
          <p:cNvSpPr txBox="1"/>
          <p:nvPr/>
        </p:nvSpPr>
        <p:spPr>
          <a:xfrm>
            <a:off x="822960" y="5349240"/>
            <a:ext cx="10607040" cy="731520"/>
          </a:xfrm>
          <a:prstGeom prst="rect">
            <a:avLst/>
          </a:prstGeom>
          <a:noFill/>
          <a:ln/>
        </p:spPr>
        <p:txBody>
          <a:bodyPr wrap="square" lIns="0" tIns="0" rIns="0" bIns="0" rtlCol="0" anchor="ctr"/>
          <a:lstStyle/>
          <a:p>
            <a:pPr indent="0" marL="0">
              <a:buNone/>
            </a:pPr>
            <a:r>
              <a:rPr lang="en-US" sz="1600" i="1" dirty="0">
                <a:solidFill>
                  <a:srgbClr val="F3E7D3"/>
                </a:solidFill>
                <a:latin typeface="Calibri" pitchFamily="34" charset="0"/>
                <a:ea typeface="Calibri" pitchFamily="34" charset="-122"/>
                <a:cs typeface="Calibri" pitchFamily="34" charset="-120"/>
              </a:rPr>
              <a:t>A person decides at every step. TraceHold never freezes, releases or labels anyone, and no AI model ever produces a figure.</a:t>
            </a:r>
            <a:endParaRPr lang="en-US" sz="16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WHAT THE OFFICER GETS</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Everything needed to size, review and explain a hold</a:t>
            </a:r>
            <a:endParaRPr lang="en-US" sz="2800" dirty="0"/>
          </a:p>
        </p:txBody>
      </p:sp>
      <p:sp>
        <p:nvSpPr>
          <p:cNvPr id="4" name="card"/>
          <p:cNvSpPr/>
          <p:nvPr/>
        </p:nvSpPr>
        <p:spPr>
          <a:xfrm>
            <a:off x="548640" y="1463040"/>
            <a:ext cx="3566160" cy="2194560"/>
          </a:xfrm>
          <a:prstGeom prst="roundRect">
            <a:avLst>
              <a:gd name="adj" fmla="val 3750"/>
            </a:avLst>
          </a:prstGeom>
          <a:solidFill>
            <a:srgbClr val="EAEDD9"/>
          </a:solidFill>
          <a:ln w="9525">
            <a:solidFill>
              <a:srgbClr val="EAEDD9"/>
            </a:solidFill>
            <a:prstDash val="solid"/>
          </a:ln>
        </p:spPr>
      </p:sp>
      <p:sp>
        <p:nvSpPr>
          <p:cNvPr id="5" name="feature 0"/>
          <p:cNvSpPr/>
          <p:nvPr/>
        </p:nvSpPr>
        <p:spPr>
          <a:xfrm>
            <a:off x="822960" y="1737360"/>
            <a:ext cx="603504" cy="603504"/>
          </a:xfrm>
          <a:prstGeom prst="ellipse">
            <a:avLst/>
          </a:prstGeom>
          <a:solidFill>
            <a:srgbClr val="FFFCF7"/>
          </a:solidFill>
          <a:ln w="12700">
            <a:solidFill>
              <a:srgbClr val="FFFCF7"/>
            </a:solidFill>
            <a:prstDash val="solid"/>
          </a:ln>
        </p:spPr>
      </p:sp>
      <p:pic>
        <p:nvPicPr>
          <p:cNvPr id="6" name="feature 0 icon" descr="preencoded.png">    </p:cNvPr>
          <p:cNvPicPr>
            <a:picLocks noChangeAspect="1"/>
          </p:cNvPicPr>
          <p:nvPr/>
        </p:nvPicPr>
        <p:blipFill>
          <a:blip r:embed="rId1"/>
          <a:stretch>
            <a:fillRect/>
          </a:stretch>
        </p:blipFill>
        <p:spPr>
          <a:xfrm>
            <a:off x="973836" y="1888236"/>
            <a:ext cx="301752" cy="301752"/>
          </a:xfrm>
          <a:prstGeom prst="rect">
            <a:avLst/>
          </a:prstGeom>
        </p:spPr>
      </p:pic>
      <p:sp>
        <p:nvSpPr>
          <p:cNvPr id="7" name="Text 4"/>
          <p:cNvSpPr txBox="1"/>
          <p:nvPr/>
        </p:nvSpPr>
        <p:spPr>
          <a:xfrm>
            <a:off x="822960" y="2450592"/>
            <a:ext cx="30632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Live analysis</a:t>
            </a:r>
            <a:endParaRPr lang="en-US" sz="1700" dirty="0"/>
          </a:p>
        </p:txBody>
      </p:sp>
      <p:sp>
        <p:nvSpPr>
          <p:cNvPr id="8" name="Text 5"/>
          <p:cNvSpPr txBox="1"/>
          <p:nvPr/>
        </p:nvSpPr>
        <p:spPr>
          <a:xfrm>
            <a:off x="822960" y="2880360"/>
            <a:ext cx="3063240" cy="73152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Type in any case or paste a police letter; the verdict comes first: asked to hold vs supported by the records.</a:t>
            </a:r>
            <a:endParaRPr lang="en-US" sz="1300" dirty="0"/>
          </a:p>
        </p:txBody>
      </p:sp>
      <p:sp>
        <p:nvSpPr>
          <p:cNvPr id="9" name="card"/>
          <p:cNvSpPr/>
          <p:nvPr/>
        </p:nvSpPr>
        <p:spPr>
          <a:xfrm>
            <a:off x="4297680" y="1463040"/>
            <a:ext cx="3566160" cy="2194560"/>
          </a:xfrm>
          <a:prstGeom prst="roundRect">
            <a:avLst>
              <a:gd name="adj" fmla="val 3750"/>
            </a:avLst>
          </a:prstGeom>
          <a:solidFill>
            <a:srgbClr val="FFFCF7"/>
          </a:solidFill>
          <a:ln w="9525">
            <a:solidFill>
              <a:srgbClr val="E0D2BC"/>
            </a:solidFill>
            <a:prstDash val="solid"/>
          </a:ln>
        </p:spPr>
      </p:sp>
      <p:sp>
        <p:nvSpPr>
          <p:cNvPr id="10" name="feature 1"/>
          <p:cNvSpPr/>
          <p:nvPr/>
        </p:nvSpPr>
        <p:spPr>
          <a:xfrm>
            <a:off x="4572000" y="1737360"/>
            <a:ext cx="603504" cy="603504"/>
          </a:xfrm>
          <a:prstGeom prst="ellipse">
            <a:avLst/>
          </a:prstGeom>
          <a:solidFill>
            <a:srgbClr val="EAEDD9"/>
          </a:solidFill>
          <a:ln w="12700">
            <a:solidFill>
              <a:srgbClr val="EAEDD9"/>
            </a:solidFill>
            <a:prstDash val="solid"/>
          </a:ln>
        </p:spPr>
      </p:sp>
      <p:pic>
        <p:nvPicPr>
          <p:cNvPr id="11" name="feature 1 icon" descr="preencoded.png">    </p:cNvPr>
          <p:cNvPicPr>
            <a:picLocks noChangeAspect="1"/>
          </p:cNvPicPr>
          <p:nvPr/>
        </p:nvPicPr>
        <p:blipFill>
          <a:blip r:embed="rId2"/>
          <a:stretch>
            <a:fillRect/>
          </a:stretch>
        </p:blipFill>
        <p:spPr>
          <a:xfrm>
            <a:off x="4722876" y="1888236"/>
            <a:ext cx="301752" cy="301752"/>
          </a:xfrm>
          <a:prstGeom prst="rect">
            <a:avLst/>
          </a:prstGeom>
        </p:spPr>
      </p:pic>
      <p:sp>
        <p:nvSpPr>
          <p:cNvPr id="12" name="Text 8"/>
          <p:cNvSpPr txBox="1"/>
          <p:nvPr/>
        </p:nvSpPr>
        <p:spPr>
          <a:xfrm>
            <a:off x="4572000" y="2450592"/>
            <a:ext cx="30632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Every case, explained</a:t>
            </a:r>
            <a:endParaRPr lang="en-US" sz="1700" dirty="0"/>
          </a:p>
        </p:txBody>
      </p:sp>
      <p:sp>
        <p:nvSpPr>
          <p:cNvPr id="13" name="Text 9"/>
          <p:cNvSpPr txBox="1"/>
          <p:nvPr/>
        </p:nvSpPr>
        <p:spPr>
          <a:xfrm>
            <a:off x="4572000" y="2880360"/>
            <a:ext cx="3063240" cy="73152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2,400 cases on 2.4M transactions, each with the step-by-step maths. Re-trace any case live on the full ledger in about 10 s.</a:t>
            </a:r>
            <a:endParaRPr lang="en-US" sz="1300" dirty="0"/>
          </a:p>
        </p:txBody>
      </p:sp>
      <p:sp>
        <p:nvSpPr>
          <p:cNvPr id="14" name="card"/>
          <p:cNvSpPr/>
          <p:nvPr/>
        </p:nvSpPr>
        <p:spPr>
          <a:xfrm>
            <a:off x="8046720" y="1463040"/>
            <a:ext cx="3566160" cy="2194560"/>
          </a:xfrm>
          <a:prstGeom prst="roundRect">
            <a:avLst>
              <a:gd name="adj" fmla="val 3750"/>
            </a:avLst>
          </a:prstGeom>
          <a:solidFill>
            <a:srgbClr val="FFFCF7"/>
          </a:solidFill>
          <a:ln w="9525">
            <a:solidFill>
              <a:srgbClr val="E0D2BC"/>
            </a:solidFill>
            <a:prstDash val="solid"/>
          </a:ln>
        </p:spPr>
      </p:sp>
      <p:sp>
        <p:nvSpPr>
          <p:cNvPr id="15" name="feature 2"/>
          <p:cNvSpPr/>
          <p:nvPr/>
        </p:nvSpPr>
        <p:spPr>
          <a:xfrm>
            <a:off x="8321040" y="1737360"/>
            <a:ext cx="603504" cy="603504"/>
          </a:xfrm>
          <a:prstGeom prst="ellipse">
            <a:avLst/>
          </a:prstGeom>
          <a:solidFill>
            <a:srgbClr val="EAEDD9"/>
          </a:solidFill>
          <a:ln w="12700">
            <a:solidFill>
              <a:srgbClr val="EAEDD9"/>
            </a:solidFill>
            <a:prstDash val="solid"/>
          </a:ln>
        </p:spPr>
      </p:sp>
      <p:pic>
        <p:nvPicPr>
          <p:cNvPr id="16" name="feature 2 icon" descr="preencoded.png">    </p:cNvPr>
          <p:cNvPicPr>
            <a:picLocks noChangeAspect="1"/>
          </p:cNvPicPr>
          <p:nvPr/>
        </p:nvPicPr>
        <p:blipFill>
          <a:blip r:embed="rId3"/>
          <a:stretch>
            <a:fillRect/>
          </a:stretch>
        </p:blipFill>
        <p:spPr>
          <a:xfrm>
            <a:off x="8471916" y="1888236"/>
            <a:ext cx="301752" cy="301752"/>
          </a:xfrm>
          <a:prstGeom prst="rect">
            <a:avLst/>
          </a:prstGeom>
        </p:spPr>
      </p:pic>
      <p:sp>
        <p:nvSpPr>
          <p:cNvPr id="17" name="Text 12"/>
          <p:cNvSpPr txBox="1"/>
          <p:nvPr/>
        </p:nvSpPr>
        <p:spPr>
          <a:xfrm>
            <a:off x="8321040" y="2450592"/>
            <a:ext cx="30632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Lien review queue</a:t>
            </a:r>
            <a:endParaRPr lang="en-US" sz="1700" dirty="0"/>
          </a:p>
        </p:txBody>
      </p:sp>
      <p:sp>
        <p:nvSpPr>
          <p:cNvPr id="18" name="Text 13"/>
          <p:cNvSpPr txBox="1"/>
          <p:nvPr/>
        </p:nvSpPr>
        <p:spPr>
          <a:xfrm>
            <a:off x="8321040" y="2880360"/>
            <a:ext cx="3063240" cy="73152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Existing holds ranked for a person: over-held, closed but still frozen, past 90 days, no update.</a:t>
            </a:r>
            <a:endParaRPr lang="en-US" sz="1300" dirty="0"/>
          </a:p>
        </p:txBody>
      </p:sp>
      <p:sp>
        <p:nvSpPr>
          <p:cNvPr id="19" name="card"/>
          <p:cNvSpPr/>
          <p:nvPr/>
        </p:nvSpPr>
        <p:spPr>
          <a:xfrm>
            <a:off x="548640" y="3840480"/>
            <a:ext cx="3566160" cy="2194560"/>
          </a:xfrm>
          <a:prstGeom prst="roundRect">
            <a:avLst>
              <a:gd name="adj" fmla="val 3750"/>
            </a:avLst>
          </a:prstGeom>
          <a:solidFill>
            <a:srgbClr val="FFFCF7"/>
          </a:solidFill>
          <a:ln w="9525">
            <a:solidFill>
              <a:srgbClr val="E0D2BC"/>
            </a:solidFill>
            <a:prstDash val="solid"/>
          </a:ln>
        </p:spPr>
      </p:sp>
      <p:sp>
        <p:nvSpPr>
          <p:cNvPr id="20" name="feature 3"/>
          <p:cNvSpPr/>
          <p:nvPr/>
        </p:nvSpPr>
        <p:spPr>
          <a:xfrm>
            <a:off x="822960" y="4114800"/>
            <a:ext cx="603504" cy="603504"/>
          </a:xfrm>
          <a:prstGeom prst="ellipse">
            <a:avLst/>
          </a:prstGeom>
          <a:solidFill>
            <a:srgbClr val="EAEDD9"/>
          </a:solidFill>
          <a:ln w="12700">
            <a:solidFill>
              <a:srgbClr val="EAEDD9"/>
            </a:solidFill>
            <a:prstDash val="solid"/>
          </a:ln>
        </p:spPr>
      </p:sp>
      <p:pic>
        <p:nvPicPr>
          <p:cNvPr id="21" name="feature 3 icon" descr="preencoded.png">    </p:cNvPr>
          <p:cNvPicPr>
            <a:picLocks noChangeAspect="1"/>
          </p:cNvPicPr>
          <p:nvPr/>
        </p:nvPicPr>
        <p:blipFill>
          <a:blip r:embed="rId4"/>
          <a:stretch>
            <a:fillRect/>
          </a:stretch>
        </p:blipFill>
        <p:spPr>
          <a:xfrm>
            <a:off x="973836" y="4265676"/>
            <a:ext cx="301752" cy="301752"/>
          </a:xfrm>
          <a:prstGeom prst="rect">
            <a:avLst/>
          </a:prstGeom>
        </p:spPr>
      </p:pic>
      <p:sp>
        <p:nvSpPr>
          <p:cNvPr id="22" name="Text 16"/>
          <p:cNvSpPr txBox="1"/>
          <p:nvPr/>
        </p:nvSpPr>
        <p:spPr>
          <a:xfrm>
            <a:off x="822960" y="4828032"/>
            <a:ext cx="30632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Ask the results</a:t>
            </a:r>
            <a:endParaRPr lang="en-US" sz="1700" dirty="0"/>
          </a:p>
        </p:txBody>
      </p:sp>
      <p:sp>
        <p:nvSpPr>
          <p:cNvPr id="23" name="Text 17"/>
          <p:cNvSpPr txBox="1"/>
          <p:nvPr/>
        </p:nvSpPr>
        <p:spPr>
          <a:xfrm>
            <a:off x="822960" y="5257800"/>
            <a:ext cx="3063240" cy="73152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Plain-English questions answered through Exasol's MCP server; the SQL and rows are always shown.</a:t>
            </a:r>
            <a:endParaRPr lang="en-US" sz="1300" dirty="0"/>
          </a:p>
        </p:txBody>
      </p:sp>
      <p:sp>
        <p:nvSpPr>
          <p:cNvPr id="24" name="card"/>
          <p:cNvSpPr/>
          <p:nvPr/>
        </p:nvSpPr>
        <p:spPr>
          <a:xfrm>
            <a:off x="4297680" y="3840480"/>
            <a:ext cx="3566160" cy="2194560"/>
          </a:xfrm>
          <a:prstGeom prst="roundRect">
            <a:avLst>
              <a:gd name="adj" fmla="val 3750"/>
            </a:avLst>
          </a:prstGeom>
          <a:solidFill>
            <a:srgbClr val="FFFCF7"/>
          </a:solidFill>
          <a:ln w="9525">
            <a:solidFill>
              <a:srgbClr val="E0D2BC"/>
            </a:solidFill>
            <a:prstDash val="solid"/>
          </a:ln>
        </p:spPr>
      </p:sp>
      <p:sp>
        <p:nvSpPr>
          <p:cNvPr id="25" name="feature 4"/>
          <p:cNvSpPr/>
          <p:nvPr/>
        </p:nvSpPr>
        <p:spPr>
          <a:xfrm>
            <a:off x="4572000" y="4114800"/>
            <a:ext cx="603504" cy="603504"/>
          </a:xfrm>
          <a:prstGeom prst="ellipse">
            <a:avLst/>
          </a:prstGeom>
          <a:solidFill>
            <a:srgbClr val="EAEDD9"/>
          </a:solidFill>
          <a:ln w="12700">
            <a:solidFill>
              <a:srgbClr val="EAEDD9"/>
            </a:solidFill>
            <a:prstDash val="solid"/>
          </a:ln>
        </p:spPr>
      </p:sp>
      <p:pic>
        <p:nvPicPr>
          <p:cNvPr id="26" name="feature 4 icon" descr="preencoded.png">    </p:cNvPr>
          <p:cNvPicPr>
            <a:picLocks noChangeAspect="1"/>
          </p:cNvPicPr>
          <p:nvPr/>
        </p:nvPicPr>
        <p:blipFill>
          <a:blip r:embed="rId5"/>
          <a:stretch>
            <a:fillRect/>
          </a:stretch>
        </p:blipFill>
        <p:spPr>
          <a:xfrm>
            <a:off x="4722876" y="4265676"/>
            <a:ext cx="301752" cy="301752"/>
          </a:xfrm>
          <a:prstGeom prst="rect">
            <a:avLst/>
          </a:prstGeom>
        </p:spPr>
      </p:pic>
      <p:sp>
        <p:nvSpPr>
          <p:cNvPr id="27" name="Text 20"/>
          <p:cNvSpPr txBox="1"/>
          <p:nvPr/>
        </p:nvSpPr>
        <p:spPr>
          <a:xfrm>
            <a:off x="4572000" y="4828032"/>
            <a:ext cx="30632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Proportionate hold draft</a:t>
            </a:r>
            <a:endParaRPr lang="en-US" sz="1700" dirty="0"/>
          </a:p>
        </p:txBody>
      </p:sp>
      <p:sp>
        <p:nvSpPr>
          <p:cNvPr id="28" name="Text 21"/>
          <p:cNvSpPr txBox="1"/>
          <p:nvPr/>
        </p:nvSpPr>
        <p:spPr>
          <a:xfrm>
            <a:off x="4572000" y="5257800"/>
            <a:ext cx="3063240" cy="73152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Per account, a hold limited to the supported range, ready for the officer to review and send.</a:t>
            </a:r>
            <a:endParaRPr lang="en-US" sz="1300" dirty="0"/>
          </a:p>
        </p:txBody>
      </p:sp>
      <p:sp>
        <p:nvSpPr>
          <p:cNvPr id="29" name="card"/>
          <p:cNvSpPr/>
          <p:nvPr/>
        </p:nvSpPr>
        <p:spPr>
          <a:xfrm>
            <a:off x="8046720" y="3840480"/>
            <a:ext cx="3566160" cy="2194560"/>
          </a:xfrm>
          <a:prstGeom prst="roundRect">
            <a:avLst>
              <a:gd name="adj" fmla="val 3750"/>
            </a:avLst>
          </a:prstGeom>
          <a:solidFill>
            <a:srgbClr val="FFFCF7"/>
          </a:solidFill>
          <a:ln w="9525">
            <a:solidFill>
              <a:srgbClr val="E0D2BC"/>
            </a:solidFill>
            <a:prstDash val="solid"/>
          </a:ln>
        </p:spPr>
      </p:sp>
      <p:sp>
        <p:nvSpPr>
          <p:cNvPr id="30" name="feature 5"/>
          <p:cNvSpPr/>
          <p:nvPr/>
        </p:nvSpPr>
        <p:spPr>
          <a:xfrm>
            <a:off x="8321040" y="4114800"/>
            <a:ext cx="603504" cy="603504"/>
          </a:xfrm>
          <a:prstGeom prst="ellipse">
            <a:avLst/>
          </a:prstGeom>
          <a:solidFill>
            <a:srgbClr val="EAEDD9"/>
          </a:solidFill>
          <a:ln w="12700">
            <a:solidFill>
              <a:srgbClr val="EAEDD9"/>
            </a:solidFill>
            <a:prstDash val="solid"/>
          </a:ln>
        </p:spPr>
      </p:sp>
      <p:pic>
        <p:nvPicPr>
          <p:cNvPr id="31" name="feature 5 icon" descr="preencoded.png">    </p:cNvPr>
          <p:cNvPicPr>
            <a:picLocks noChangeAspect="1"/>
          </p:cNvPicPr>
          <p:nvPr/>
        </p:nvPicPr>
        <p:blipFill>
          <a:blip r:embed="rId6"/>
          <a:stretch>
            <a:fillRect/>
          </a:stretch>
        </p:blipFill>
        <p:spPr>
          <a:xfrm>
            <a:off x="8471916" y="4265676"/>
            <a:ext cx="301752" cy="301752"/>
          </a:xfrm>
          <a:prstGeom prst="rect">
            <a:avLst/>
          </a:prstGeom>
        </p:spPr>
      </p:pic>
      <p:sp>
        <p:nvSpPr>
          <p:cNvPr id="32" name="Text 24"/>
          <p:cNvSpPr txBox="1"/>
          <p:nvPr/>
        </p:nvSpPr>
        <p:spPr>
          <a:xfrm>
            <a:off x="8321040" y="4828032"/>
            <a:ext cx="30632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Evidence for everyone</a:t>
            </a:r>
            <a:endParaRPr lang="en-US" sz="1700" dirty="0"/>
          </a:p>
        </p:txBody>
      </p:sp>
      <p:sp>
        <p:nvSpPr>
          <p:cNvPr id="33" name="Text 25"/>
          <p:cNvSpPr txBox="1"/>
          <p:nvPr/>
        </p:nvSpPr>
        <p:spPr>
          <a:xfrm>
            <a:off x="8321040" y="5257800"/>
            <a:ext cx="3063240" cy="73152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Evidence packet citing every transaction, and a neutral letter for the account holder.</a:t>
            </a:r>
            <a:endParaRPr lang="en-US" sz="13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HOW EXASOL IS USED</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Exasol is the engine, not just the storage</a:t>
            </a:r>
            <a:endParaRPr lang="en-US" sz="2800" dirty="0"/>
          </a:p>
        </p:txBody>
      </p:sp>
      <p:sp>
        <p:nvSpPr>
          <p:cNvPr id="4" name="Text 2"/>
          <p:cNvSpPr txBox="1"/>
          <p:nvPr/>
        </p:nvSpPr>
        <p:spPr>
          <a:xfrm>
            <a:off x="548640" y="1508760"/>
            <a:ext cx="6583680" cy="4663440"/>
          </a:xfrm>
          <a:prstGeom prst="rect">
            <a:avLst/>
          </a:prstGeom>
          <a:noFill/>
          <a:ln/>
        </p:spPr>
        <p:txBody>
          <a:bodyPr wrap="square" lIns="0" tIns="0" rIns="0" bIns="0" rtlCol="0" anchor="t"/>
          <a:lstStyle/>
          <a:p>
            <a:pPr indent="0" marL="0">
              <a:spcAft>
                <a:spcPts val="1600"/>
              </a:spcAft>
              <a:buNone/>
            </a:pPr>
            <a:r>
              <a:rPr lang="en-US" sz="1600" b="1" dirty="0">
                <a:solidFill>
                  <a:schemeClr val="tx1"/>
                </a:solidFill>
                <a:latin typeface="Calibri" pitchFamily="34" charset="0"/>
                <a:ea typeface="Calibri" pitchFamily="34" charset="-122"/>
                <a:cs typeface="Calibri" pitchFamily="34" charset="-120"/>
              </a:rPr>
              <a:t>Set-based SQL, no row-by-row code. </a:t>
            </a:r>
            <a:pPr indent="0" marL="0">
              <a:spcAft>
                <a:spcPts val="1600"/>
              </a:spcAft>
              <a:buNone/>
            </a:pPr>
            <a:r>
              <a:rPr lang="en-US" sz="1600" dirty="0">
                <a:solidFill>
                  <a:schemeClr val="tx1"/>
                </a:solidFill>
                <a:latin typeface="Calibri" pitchFamily="34" charset="0"/>
                <a:ea typeface="Calibri" pitchFamily="34" charset="-122"/>
                <a:cs typeface="Calibri" pitchFamily="34" charset="-120"/>
              </a:rPr>
              <a:t>Window functions rebuild every running balance; the trail expands one layer per pass until nothing changes.</a:t>
            </a:r>
            <a:endParaRPr lang="en-US" sz="1600" dirty="0"/>
          </a:p>
          <a:p>
            <a:pPr indent="0" marL="0">
              <a:spcAft>
                <a:spcPts val="1600"/>
              </a:spcAft>
              <a:buNone/>
            </a:pPr>
            <a:r>
              <a:rPr lang="en-US" sz="1600" b="1" dirty="0">
                <a:solidFill>
                  <a:schemeClr val="tx1"/>
                </a:solidFill>
                <a:latin typeface="Calibri" pitchFamily="34" charset="0"/>
                <a:ea typeface="Calibri" pitchFamily="34" charset="-122"/>
                <a:cs typeface="Calibri" pitchFamily="34" charset="-120"/>
              </a:rPr>
              <a:t>The whole analysis as one script. </a:t>
            </a:r>
            <a:pPr indent="0" marL="0">
              <a:spcAft>
                <a:spcPts val="1600"/>
              </a:spcAft>
              <a:buNone/>
            </a:pPr>
            <a:r>
              <a:rPr lang="en-US" sz="1600" dirty="0">
                <a:solidFill>
                  <a:schemeClr val="tx1"/>
                </a:solidFill>
                <a:latin typeface="Calibri" pitchFamily="34" charset="0"/>
                <a:ea typeface="Calibri" pitchFamily="34" charset="-122"/>
                <a:cs typeface="Calibri" pitchFamily="34" charset="-120"/>
              </a:rPr>
              <a:t>EXECUTE SCRIPT TRACEHOLD.RUN_ANALYSIS(): a Lua script generated from the same SQL; same checksum.</a:t>
            </a:r>
            <a:endParaRPr lang="en-US" sz="1600" dirty="0"/>
          </a:p>
          <a:p>
            <a:pPr indent="0" marL="0">
              <a:spcAft>
                <a:spcPts val="1600"/>
              </a:spcAft>
              <a:buNone/>
            </a:pPr>
            <a:r>
              <a:rPr lang="en-US" sz="1600" b="1" dirty="0">
                <a:solidFill>
                  <a:schemeClr val="tx1"/>
                </a:solidFill>
                <a:latin typeface="Calibri" pitchFamily="34" charset="0"/>
                <a:ea typeface="Calibri" pitchFamily="34" charset="-122"/>
                <a:cs typeface="Calibri" pitchFamily="34" charset="-120"/>
              </a:rPr>
              <a:t>Governed questions. </a:t>
            </a:r>
            <a:pPr indent="0" marL="0">
              <a:spcAft>
                <a:spcPts val="1600"/>
              </a:spcAft>
              <a:buNone/>
            </a:pPr>
            <a:r>
              <a:rPr lang="en-US" sz="1600" dirty="0">
                <a:solidFill>
                  <a:schemeClr val="tx1"/>
                </a:solidFill>
                <a:latin typeface="Calibri" pitchFamily="34" charset="0"/>
                <a:ea typeface="Calibri" pitchFamily="34" charset="-122"/>
                <a:cs typeface="Calibri" pitchFamily="34" charset="-120"/>
              </a:rPr>
              <a:t>Exasol's open-source MCP server, as a read-only user that sees only results views.</a:t>
            </a:r>
            <a:endParaRPr lang="en-US" sz="1600" dirty="0"/>
          </a:p>
          <a:p>
            <a:pPr indent="0" marL="0">
              <a:spcAft>
                <a:spcPts val="1600"/>
              </a:spcAft>
              <a:buNone/>
            </a:pPr>
            <a:r>
              <a:rPr lang="en-US" sz="1600" b="1" dirty="0">
                <a:solidFill>
                  <a:schemeClr val="tx1"/>
                </a:solidFill>
                <a:latin typeface="Calibri" pitchFamily="34" charset="0"/>
                <a:ea typeface="Calibri" pitchFamily="34" charset="-122"/>
                <a:cs typeface="Calibri" pitchFamily="34" charset="-120"/>
              </a:rPr>
              <a:t>Privileges as protection. </a:t>
            </a:r>
            <a:pPr indent="0" marL="0">
              <a:spcAft>
                <a:spcPts val="1600"/>
              </a:spcAft>
              <a:buNone/>
            </a:pPr>
            <a:r>
              <a:rPr lang="en-US" sz="1600" dirty="0">
                <a:solidFill>
                  <a:schemeClr val="tx1"/>
                </a:solidFill>
                <a:latin typeface="Calibri" pitchFamily="34" charset="0"/>
                <a:ea typeface="Calibri" pitchFamily="34" charset="-122"/>
                <a:cs typeface="Calibri" pitchFamily="34" charset="-120"/>
              </a:rPr>
              <a:t>The analysis user cannot change source data or history; Exasol refuses it.</a:t>
            </a:r>
            <a:endParaRPr lang="en-US" sz="1600" dirty="0"/>
          </a:p>
          <a:p>
            <a:pPr indent="0" marL="0">
              <a:spcAft>
                <a:spcPts val="1600"/>
              </a:spcAft>
              <a:buNone/>
            </a:pPr>
            <a:r>
              <a:rPr lang="en-US" sz="1600" b="1" dirty="0">
                <a:solidFill>
                  <a:schemeClr val="tx1"/>
                </a:solidFill>
                <a:latin typeface="Calibri" pitchFamily="34" charset="0"/>
                <a:ea typeface="Calibri" pitchFamily="34" charset="-122"/>
                <a:cs typeface="Calibri" pitchFamily="34" charset="-120"/>
              </a:rPr>
              <a:t>Exasol does the tuning. </a:t>
            </a:r>
            <a:pPr indent="0" marL="0">
              <a:spcAft>
                <a:spcPts val="1600"/>
              </a:spcAft>
              <a:buNone/>
            </a:pPr>
            <a:r>
              <a:rPr lang="en-US" sz="1600" dirty="0">
                <a:solidFill>
                  <a:schemeClr val="tx1"/>
                </a:solidFill>
                <a:latin typeface="Calibri" pitchFamily="34" charset="0"/>
                <a:ea typeface="Calibri" pitchFamily="34" charset="-122"/>
                <a:cs typeface="Calibri" pitchFamily="34" charset="-120"/>
              </a:rPr>
              <a:t>Every index is created by Exasol itself, none by hand; transactions compressed 2.3× in memory.</a:t>
            </a:r>
            <a:endParaRPr lang="en-US" sz="1600" dirty="0"/>
          </a:p>
        </p:txBody>
      </p:sp>
      <p:sp>
        <p:nvSpPr>
          <p:cNvPr id="5" name="card"/>
          <p:cNvSpPr/>
          <p:nvPr/>
        </p:nvSpPr>
        <p:spPr>
          <a:xfrm>
            <a:off x="7589520" y="1508760"/>
            <a:ext cx="4023360" cy="1389888"/>
          </a:xfrm>
          <a:prstGeom prst="roundRect">
            <a:avLst>
              <a:gd name="adj" fmla="val 5921"/>
            </a:avLst>
          </a:prstGeom>
          <a:solidFill>
            <a:srgbClr val="2A1B14"/>
          </a:solidFill>
          <a:ln w="9525">
            <a:solidFill>
              <a:srgbClr val="2A1B14"/>
            </a:solidFill>
            <a:prstDash val="solid"/>
          </a:ln>
        </p:spPr>
      </p:sp>
      <p:sp>
        <p:nvSpPr>
          <p:cNvPr id="6" name="Text 4"/>
          <p:cNvSpPr txBox="1"/>
          <p:nvPr/>
        </p:nvSpPr>
        <p:spPr>
          <a:xfrm>
            <a:off x="7863840" y="1664208"/>
            <a:ext cx="3566160" cy="1143000"/>
          </a:xfrm>
          <a:prstGeom prst="rect">
            <a:avLst/>
          </a:prstGeom>
          <a:noFill/>
          <a:ln/>
        </p:spPr>
        <p:txBody>
          <a:bodyPr wrap="square" lIns="0" tIns="0" rIns="0" bIns="0" rtlCol="0" anchor="t"/>
          <a:lstStyle/>
          <a:p>
            <a:pPr indent="0" marL="0">
              <a:buNone/>
            </a:pPr>
            <a:r>
              <a:rPr lang="en-US" sz="3600" b="1" dirty="0">
                <a:solidFill>
                  <a:srgbClr val="E39B2D"/>
                </a:solidFill>
                <a:latin typeface="Cambria" pitchFamily="34" charset="0"/>
                <a:ea typeface="Cambria" pitchFamily="34" charset="-122"/>
                <a:cs typeface="Cambria" pitchFamily="34" charset="-120"/>
              </a:rPr>
              <a:t>2.4M</a:t>
            </a:r>
            <a:endParaRPr lang="en-US" sz="3600" dirty="0"/>
          </a:p>
          <a:p>
            <a:pPr indent="0" marL="0">
              <a:buNone/>
            </a:pPr>
            <a:r>
              <a:rPr lang="en-US" sz="1400" dirty="0">
                <a:solidFill>
                  <a:srgbClr val="F3E7D3"/>
                </a:solidFill>
                <a:latin typeface="Calibri" pitchFamily="34" charset="0"/>
                <a:ea typeface="Calibri" pitchFamily="34" charset="-122"/>
                <a:cs typeface="Calibri" pitchFamily="34" charset="-120"/>
              </a:rPr>
              <a:t>transactions analysed in one run</a:t>
            </a:r>
            <a:endParaRPr lang="en-US" sz="3600" dirty="0"/>
          </a:p>
        </p:txBody>
      </p:sp>
      <p:sp>
        <p:nvSpPr>
          <p:cNvPr id="7" name="card"/>
          <p:cNvSpPr/>
          <p:nvPr/>
        </p:nvSpPr>
        <p:spPr>
          <a:xfrm>
            <a:off x="7589520" y="3081528"/>
            <a:ext cx="4023360" cy="1389888"/>
          </a:xfrm>
          <a:prstGeom prst="roundRect">
            <a:avLst>
              <a:gd name="adj" fmla="val 5921"/>
            </a:avLst>
          </a:prstGeom>
          <a:solidFill>
            <a:srgbClr val="FBEBCF"/>
          </a:solidFill>
          <a:ln w="9525">
            <a:solidFill>
              <a:srgbClr val="FBEBCF"/>
            </a:solidFill>
            <a:prstDash val="solid"/>
          </a:ln>
        </p:spPr>
      </p:sp>
      <p:sp>
        <p:nvSpPr>
          <p:cNvPr id="8" name="Text 6"/>
          <p:cNvSpPr txBox="1"/>
          <p:nvPr/>
        </p:nvSpPr>
        <p:spPr>
          <a:xfrm>
            <a:off x="7863840" y="3236976"/>
            <a:ext cx="3566160" cy="1143000"/>
          </a:xfrm>
          <a:prstGeom prst="rect">
            <a:avLst/>
          </a:prstGeom>
          <a:noFill/>
          <a:ln/>
        </p:spPr>
        <p:txBody>
          <a:bodyPr wrap="square" lIns="0" tIns="0" rIns="0" bIns="0" rtlCol="0" anchor="t"/>
          <a:lstStyle/>
          <a:p>
            <a:pPr indent="0" marL="0">
              <a:buNone/>
            </a:pPr>
            <a:r>
              <a:rPr lang="en-US" sz="3600" b="1" dirty="0">
                <a:solidFill>
                  <a:srgbClr val="B5781F"/>
                </a:solidFill>
                <a:latin typeface="Cambria" pitchFamily="34" charset="0"/>
                <a:ea typeface="Cambria" pitchFamily="34" charset="-122"/>
                <a:cs typeface="Cambria" pitchFamily="34" charset="-120"/>
              </a:rPr>
              <a:t>16.7M</a:t>
            </a:r>
            <a:endParaRPr lang="en-US" sz="3600" dirty="0"/>
          </a:p>
          <a:p>
            <a:pPr indent="0" marL="0">
              <a:buNone/>
            </a:pPr>
            <a:r>
              <a:rPr lang="en-US" sz="1400" dirty="0">
                <a:solidFill>
                  <a:srgbClr val="2A1B14"/>
                </a:solidFill>
                <a:latin typeface="Calibri" pitchFamily="34" charset="0"/>
                <a:ea typeface="Calibri" pitchFamily="34" charset="-122"/>
                <a:cs typeface="Calibri" pitchFamily="34" charset="-120"/>
              </a:rPr>
              <a:t>rows processed in one analysis run</a:t>
            </a:r>
            <a:endParaRPr lang="en-US" sz="3600" dirty="0"/>
          </a:p>
        </p:txBody>
      </p:sp>
      <p:sp>
        <p:nvSpPr>
          <p:cNvPr id="9" name="card"/>
          <p:cNvSpPr/>
          <p:nvPr/>
        </p:nvSpPr>
        <p:spPr>
          <a:xfrm>
            <a:off x="7589520" y="4654296"/>
            <a:ext cx="4023360" cy="1389888"/>
          </a:xfrm>
          <a:prstGeom prst="roundRect">
            <a:avLst>
              <a:gd name="adj" fmla="val 5921"/>
            </a:avLst>
          </a:prstGeom>
          <a:solidFill>
            <a:srgbClr val="FBEBCF"/>
          </a:solidFill>
          <a:ln w="9525">
            <a:solidFill>
              <a:srgbClr val="FBEBCF"/>
            </a:solidFill>
            <a:prstDash val="solid"/>
          </a:ln>
        </p:spPr>
      </p:sp>
      <p:sp>
        <p:nvSpPr>
          <p:cNvPr id="10" name="Text 8"/>
          <p:cNvSpPr txBox="1"/>
          <p:nvPr/>
        </p:nvSpPr>
        <p:spPr>
          <a:xfrm>
            <a:off x="7863840" y="4809744"/>
            <a:ext cx="3566160" cy="1143000"/>
          </a:xfrm>
          <a:prstGeom prst="rect">
            <a:avLst/>
          </a:prstGeom>
          <a:noFill/>
          <a:ln/>
        </p:spPr>
        <p:txBody>
          <a:bodyPr wrap="square" lIns="0" tIns="0" rIns="0" bIns="0" rtlCol="0" anchor="t"/>
          <a:lstStyle/>
          <a:p>
            <a:pPr indent="0" marL="0">
              <a:buNone/>
            </a:pPr>
            <a:r>
              <a:rPr lang="en-US" sz="3600" b="1" dirty="0">
                <a:solidFill>
                  <a:srgbClr val="B5781F"/>
                </a:solidFill>
                <a:latin typeface="Cambria" pitchFamily="34" charset="0"/>
                <a:ea typeface="Cambria" pitchFamily="34" charset="-122"/>
                <a:cs typeface="Cambria" pitchFamily="34" charset="-120"/>
              </a:rPr>
              <a:t>≈ 4 min</a:t>
            </a:r>
            <a:endParaRPr lang="en-US" sz="3600" dirty="0"/>
          </a:p>
          <a:p>
            <a:pPr indent="0" marL="0">
              <a:buNone/>
            </a:pPr>
            <a:r>
              <a:rPr lang="en-US" sz="1400" dirty="0">
                <a:solidFill>
                  <a:srgbClr val="2A1B14"/>
                </a:solidFill>
                <a:latin typeface="Calibri" pitchFamily="34" charset="0"/>
                <a:ea typeface="Calibri" pitchFamily="34" charset="-122"/>
                <a:cs typeface="Calibri" pitchFamily="34" charset="-120"/>
              </a:rPr>
              <a:t>for the complete analysis of 2,400 cases</a:t>
            </a:r>
            <a:endParaRPr lang="en-US" sz="36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BENCHMARK</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Same SQL, same laptop: Exasol pulls ahead as data grows</a:t>
            </a:r>
            <a:endParaRPr lang="en-US" sz="2800" dirty="0"/>
          </a:p>
        </p:txBody>
      </p:sp>
      <p:graphicFrame>
        <p:nvGraphicFramePr>
          <p:cNvPr id="4" name="benchmark chart"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863840" y="1463040"/>
            <a:ext cx="3749040" cy="1325880"/>
          </a:xfrm>
          <a:prstGeom prst="roundRect">
            <a:avLst>
              <a:gd name="adj" fmla="val 6207"/>
            </a:avLst>
          </a:prstGeom>
          <a:solidFill>
            <a:srgbClr val="FBEBCF"/>
          </a:solidFill>
          <a:ln w="9525">
            <a:solidFill>
              <a:srgbClr val="FBEBCF"/>
            </a:solidFill>
            <a:prstDash val="solid"/>
          </a:ln>
        </p:spPr>
      </p:sp>
      <p:sp>
        <p:nvSpPr>
          <p:cNvPr id="6" name="Text 3"/>
          <p:cNvSpPr txBox="1"/>
          <p:nvPr/>
        </p:nvSpPr>
        <p:spPr>
          <a:xfrm>
            <a:off x="8138160" y="1572768"/>
            <a:ext cx="3291840" cy="1143000"/>
          </a:xfrm>
          <a:prstGeom prst="rect">
            <a:avLst/>
          </a:prstGeom>
          <a:noFill/>
          <a:ln/>
        </p:spPr>
        <p:txBody>
          <a:bodyPr wrap="square" lIns="0" tIns="0" rIns="0" bIns="0" rtlCol="0" anchor="t"/>
          <a:lstStyle/>
          <a:p>
            <a:pPr indent="0" marL="0">
              <a:buNone/>
            </a:pPr>
            <a:r>
              <a:rPr lang="en-US" sz="3800" b="1" dirty="0">
                <a:solidFill>
                  <a:srgbClr val="B5781F"/>
                </a:solidFill>
                <a:latin typeface="Cambria" pitchFamily="34" charset="0"/>
                <a:ea typeface="Cambria" pitchFamily="34" charset="-122"/>
                <a:cs typeface="Cambria" pitchFamily="34" charset="-120"/>
              </a:rPr>
              <a:t>1.4×</a:t>
            </a:r>
            <a:endParaRPr lang="en-US" sz="3800" dirty="0"/>
          </a:p>
          <a:p>
            <a:pPr indent="0" marL="0">
              <a:buNone/>
            </a:pPr>
            <a:r>
              <a:rPr lang="en-US" sz="1400" dirty="0">
                <a:solidFill>
                  <a:srgbClr val="2A1B14"/>
                </a:solidFill>
                <a:latin typeface="Calibri" pitchFamily="34" charset="0"/>
                <a:ea typeface="Calibri" pitchFamily="34" charset="-122"/>
                <a:cs typeface="Calibri" pitchFamily="34" charset="-120"/>
              </a:rPr>
              <a:t>faster at 241k transactions</a:t>
            </a:r>
            <a:endParaRPr lang="en-US" sz="3800" dirty="0"/>
          </a:p>
        </p:txBody>
      </p:sp>
      <p:sp>
        <p:nvSpPr>
          <p:cNvPr id="7" name="card"/>
          <p:cNvSpPr/>
          <p:nvPr/>
        </p:nvSpPr>
        <p:spPr>
          <a:xfrm>
            <a:off x="7863840" y="2971800"/>
            <a:ext cx="3749040" cy="1325880"/>
          </a:xfrm>
          <a:prstGeom prst="roundRect">
            <a:avLst>
              <a:gd name="adj" fmla="val 6207"/>
            </a:avLst>
          </a:prstGeom>
          <a:solidFill>
            <a:srgbClr val="2A1B14"/>
          </a:solidFill>
          <a:ln w="9525">
            <a:solidFill>
              <a:srgbClr val="2A1B14"/>
            </a:solidFill>
            <a:prstDash val="solid"/>
          </a:ln>
        </p:spPr>
      </p:sp>
      <p:sp>
        <p:nvSpPr>
          <p:cNvPr id="8" name="Text 5"/>
          <p:cNvSpPr txBox="1"/>
          <p:nvPr/>
        </p:nvSpPr>
        <p:spPr>
          <a:xfrm>
            <a:off x="8138160" y="3081528"/>
            <a:ext cx="3291840" cy="1143000"/>
          </a:xfrm>
          <a:prstGeom prst="rect">
            <a:avLst/>
          </a:prstGeom>
          <a:noFill/>
          <a:ln/>
        </p:spPr>
        <p:txBody>
          <a:bodyPr wrap="square" lIns="0" tIns="0" rIns="0" bIns="0" rtlCol="0" anchor="t"/>
          <a:lstStyle/>
          <a:p>
            <a:pPr indent="0" marL="0">
              <a:buNone/>
            </a:pPr>
            <a:r>
              <a:rPr lang="en-US" sz="3800" b="1" dirty="0">
                <a:solidFill>
                  <a:srgbClr val="E39B2D"/>
                </a:solidFill>
                <a:latin typeface="Cambria" pitchFamily="34" charset="0"/>
                <a:ea typeface="Cambria" pitchFamily="34" charset="-122"/>
                <a:cs typeface="Cambria" pitchFamily="34" charset="-120"/>
              </a:rPr>
              <a:t>7.8×</a:t>
            </a:r>
            <a:endParaRPr lang="en-US" sz="3800" dirty="0"/>
          </a:p>
          <a:p>
            <a:pPr indent="0" marL="0">
              <a:buNone/>
            </a:pPr>
            <a:r>
              <a:rPr lang="en-US" sz="1400" dirty="0">
                <a:solidFill>
                  <a:srgbClr val="F3E7D3"/>
                </a:solidFill>
                <a:latin typeface="Calibri" pitchFamily="34" charset="0"/>
                <a:ea typeface="Calibri" pitchFamily="34" charset="-122"/>
                <a:cs typeface="Calibri" pitchFamily="34" charset="-120"/>
              </a:rPr>
              <a:t>faster at 958k transactions</a:t>
            </a:r>
            <a:endParaRPr lang="en-US" sz="3800" dirty="0"/>
          </a:p>
        </p:txBody>
      </p:sp>
      <p:sp>
        <p:nvSpPr>
          <p:cNvPr id="9" name="Text 6"/>
          <p:cNvSpPr txBox="1"/>
          <p:nvPr/>
        </p:nvSpPr>
        <p:spPr>
          <a:xfrm>
            <a:off x="7863840" y="4572000"/>
            <a:ext cx="3749040" cy="1600200"/>
          </a:xfrm>
          <a:prstGeom prst="rect">
            <a:avLst/>
          </a:prstGeom>
          <a:noFill/>
          <a:ln/>
        </p:spPr>
        <p:txBody>
          <a:bodyPr wrap="square" lIns="0" tIns="0" rIns="0" bIns="0" rtlCol="0" anchor="t"/>
          <a:lstStyle/>
          <a:p>
            <a:pPr indent="0" marL="0">
              <a:buNone/>
            </a:pPr>
            <a:r>
              <a:rPr lang="en-US" sz="1300" dirty="0">
                <a:solidFill>
                  <a:srgbClr val="5B4636"/>
                </a:solidFill>
                <a:latin typeface="Calibri" pitchFamily="34" charset="0"/>
                <a:ea typeface="Calibri" pitchFamily="34" charset="-122"/>
                <a:cs typeface="Calibri" pitchFamily="34" charset="-120"/>
              </a:rPr>
              <a:t>With 4× more data, Exasol took 1.6× longer and PostgreSQL 8.8× longer. PostgreSQL is faster on tiny single queries; both answer those within seconds. Synthetic data; only these workloads were measured.</a:t>
            </a:r>
            <a:endParaRPr lang="en-US" sz="13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BUILT TO BE TRUSTED</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Protected data, and AI only at the edges</a:t>
            </a:r>
            <a:endParaRPr lang="en-US" sz="2800" dirty="0"/>
          </a:p>
        </p:txBody>
      </p:sp>
      <p:sp>
        <p:nvSpPr>
          <p:cNvPr id="4" name="card"/>
          <p:cNvSpPr/>
          <p:nvPr/>
        </p:nvSpPr>
        <p:spPr>
          <a:xfrm>
            <a:off x="548640" y="1463040"/>
            <a:ext cx="5440680" cy="4663440"/>
          </a:xfrm>
          <a:prstGeom prst="roundRect">
            <a:avLst>
              <a:gd name="adj" fmla="val 1765"/>
            </a:avLst>
          </a:prstGeom>
          <a:solidFill>
            <a:srgbClr val="F4E2E4"/>
          </a:solidFill>
          <a:ln w="9525">
            <a:solidFill>
              <a:srgbClr val="F4E2E4"/>
            </a:solidFill>
            <a:prstDash val="solid"/>
          </a:ln>
        </p:spPr>
      </p:sp>
      <p:sp>
        <p:nvSpPr>
          <p:cNvPr id="5" name="trust 0"/>
          <p:cNvSpPr/>
          <p:nvPr/>
        </p:nvSpPr>
        <p:spPr>
          <a:xfrm>
            <a:off x="868680" y="1737360"/>
            <a:ext cx="658368" cy="658368"/>
          </a:xfrm>
          <a:prstGeom prst="ellipse">
            <a:avLst/>
          </a:prstGeom>
          <a:solidFill>
            <a:srgbClr val="FFFCF7"/>
          </a:solidFill>
          <a:ln w="12700">
            <a:solidFill>
              <a:srgbClr val="FFFCF7"/>
            </a:solidFill>
            <a:prstDash val="solid"/>
          </a:ln>
        </p:spPr>
      </p:sp>
      <p:pic>
        <p:nvPicPr>
          <p:cNvPr id="6" name="trust 0 icon" descr="preencoded.png">    </p:cNvPr>
          <p:cNvPicPr>
            <a:picLocks noChangeAspect="1"/>
          </p:cNvPicPr>
          <p:nvPr/>
        </p:nvPicPr>
        <p:blipFill>
          <a:blip r:embed="rId1"/>
          <a:stretch>
            <a:fillRect/>
          </a:stretch>
        </p:blipFill>
        <p:spPr>
          <a:xfrm>
            <a:off x="1033272" y="1901952"/>
            <a:ext cx="329184" cy="329184"/>
          </a:xfrm>
          <a:prstGeom prst="rect">
            <a:avLst/>
          </a:prstGeom>
        </p:spPr>
      </p:pic>
      <p:sp>
        <p:nvSpPr>
          <p:cNvPr id="7" name="Text 4"/>
          <p:cNvSpPr txBox="1"/>
          <p:nvPr/>
        </p:nvSpPr>
        <p:spPr>
          <a:xfrm>
            <a:off x="1709928" y="1737360"/>
            <a:ext cx="4114800" cy="658368"/>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The records cannot be damaged</a:t>
            </a:r>
            <a:endParaRPr lang="en-US" sz="2000" dirty="0"/>
          </a:p>
        </p:txBody>
      </p:sp>
      <p:sp>
        <p:nvSpPr>
          <p:cNvPr id="8" name="Text 5"/>
          <p:cNvSpPr txBox="1"/>
          <p:nvPr/>
        </p:nvSpPr>
        <p:spPr>
          <a:xfrm>
            <a:off x="868680" y="2651760"/>
            <a:ext cx="4846320" cy="338328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Source data is read-only for the analysis: enforced by Exasol privileges, not by code alone</a:t>
            </a:r>
            <a:endParaRPr lang="en-US" sz="1600" dirty="0"/>
          </a:p>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History is append-only: every run's results, every live analysis, every AI call</a:t>
            </a:r>
            <a:endParaRPr lang="en-US" sz="1600" dirty="0"/>
          </a:p>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Each run fingerprints the source data before and after, and fails if anything changed</a:t>
            </a:r>
            <a:endParaRPr lang="en-US" sz="1600" dirty="0"/>
          </a:p>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Live proof in the app: 10 damaging statements sent, 10 refused by Exasol</a:t>
            </a:r>
            <a:endParaRPr lang="en-US" sz="1600" dirty="0"/>
          </a:p>
        </p:txBody>
      </p:sp>
      <p:sp>
        <p:nvSpPr>
          <p:cNvPr id="9" name="card"/>
          <p:cNvSpPr/>
          <p:nvPr/>
        </p:nvSpPr>
        <p:spPr>
          <a:xfrm>
            <a:off x="6172200" y="1463040"/>
            <a:ext cx="5440680" cy="4663440"/>
          </a:xfrm>
          <a:prstGeom prst="roundRect">
            <a:avLst>
              <a:gd name="adj" fmla="val 1765"/>
            </a:avLst>
          </a:prstGeom>
          <a:solidFill>
            <a:srgbClr val="FFFCF7"/>
          </a:solidFill>
          <a:ln w="9525">
            <a:solidFill>
              <a:srgbClr val="E0D2BC"/>
            </a:solidFill>
            <a:prstDash val="solid"/>
          </a:ln>
        </p:spPr>
      </p:sp>
      <p:sp>
        <p:nvSpPr>
          <p:cNvPr id="10" name="trust 1"/>
          <p:cNvSpPr/>
          <p:nvPr/>
        </p:nvSpPr>
        <p:spPr>
          <a:xfrm>
            <a:off x="6492240" y="1737360"/>
            <a:ext cx="658368" cy="658368"/>
          </a:xfrm>
          <a:prstGeom prst="ellipse">
            <a:avLst/>
          </a:prstGeom>
          <a:solidFill>
            <a:srgbClr val="F4E2E4"/>
          </a:solidFill>
          <a:ln w="12700">
            <a:solidFill>
              <a:srgbClr val="F4E2E4"/>
            </a:solidFill>
            <a:prstDash val="solid"/>
          </a:ln>
        </p:spPr>
      </p:sp>
      <p:pic>
        <p:nvPicPr>
          <p:cNvPr id="11" name="trust 1 icon" descr="preencoded.png">    </p:cNvPr>
          <p:cNvPicPr>
            <a:picLocks noChangeAspect="1"/>
          </p:cNvPicPr>
          <p:nvPr/>
        </p:nvPicPr>
        <p:blipFill>
          <a:blip r:embed="rId2"/>
          <a:stretch>
            <a:fillRect/>
          </a:stretch>
        </p:blipFill>
        <p:spPr>
          <a:xfrm>
            <a:off x="6656832" y="1901952"/>
            <a:ext cx="329184" cy="329184"/>
          </a:xfrm>
          <a:prstGeom prst="rect">
            <a:avLst/>
          </a:prstGeom>
        </p:spPr>
      </p:pic>
      <p:sp>
        <p:nvSpPr>
          <p:cNvPr id="12" name="Text 8"/>
          <p:cNvSpPr txBox="1"/>
          <p:nvPr/>
        </p:nvSpPr>
        <p:spPr>
          <a:xfrm>
            <a:off x="7333488" y="1737360"/>
            <a:ext cx="4114800" cy="658368"/>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AI never touches a figure</a:t>
            </a:r>
            <a:endParaRPr lang="en-US" sz="2000" dirty="0"/>
          </a:p>
        </p:txBody>
      </p:sp>
      <p:sp>
        <p:nvSpPr>
          <p:cNvPr id="13" name="Text 9"/>
          <p:cNvSpPr txBox="1"/>
          <p:nvPr/>
        </p:nvSpPr>
        <p:spPr>
          <a:xfrm>
            <a:off x="6492240" y="2651760"/>
            <a:ext cx="4846320" cy="338328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AI reads free-text police letters; every value must quote the letter and pass rule checks</a:t>
            </a:r>
            <a:endParaRPr lang="en-US" sz="1600" dirty="0"/>
          </a:p>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Held-out letters: 98.8% precision, 99.2% recall, 0 values used without a quote</a:t>
            </a:r>
            <a:endParaRPr lang="en-US" sz="1600" dirty="0"/>
          </a:p>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Answers over results: every number must appear in the rows, or the wording is rejected</a:t>
            </a:r>
            <a:endParaRPr lang="en-US" sz="1600" dirty="0"/>
          </a:p>
          <a:p>
            <a:pPr marL="342900" indent="-342900">
              <a:spcAft>
                <a:spcPts val="1600"/>
              </a:spcAft>
              <a:buSzPct val="100000"/>
              <a:buChar char="•"/>
            </a:pPr>
            <a:r>
              <a:rPr lang="en-US" sz="1600" dirty="0">
                <a:solidFill>
                  <a:schemeClr val="tx1"/>
                </a:solidFill>
                <a:latin typeface="Calibri" pitchFamily="34" charset="0"/>
                <a:ea typeface="Calibri" pitchFamily="34" charset="-122"/>
                <a:cs typeface="Calibri" pitchFamily="34" charset="-120"/>
              </a:rPr>
              <a:t>With AI switched off, every figure is identical (tested)</a:t>
            </a:r>
            <a:endParaRPr lang="en-US" sz="16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PROOF, NOT PROMISE</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Try to break it: Exasol refuses every damaging statement</a:t>
            </a:r>
            <a:endParaRPr lang="en-US" sz="2800" dirty="0"/>
          </a:p>
        </p:txBody>
      </p:sp>
      <p:pic>
        <p:nvPicPr>
          <p:cNvPr id="4" name="try to break it screenshot" descr="C:\Users\lisam\Projects\LienLens\docs\screenshots\05-try-to-break-it.jpg">    </p:cNvPr>
          <p:cNvPicPr>
            <a:picLocks noChangeAspect="1"/>
          </p:cNvPicPr>
          <p:nvPr/>
        </p:nvPicPr>
        <p:blipFill>
          <a:blip r:embed="rId1"/>
          <a:stretch>
            <a:fillRect/>
          </a:stretch>
        </p:blipFill>
        <p:spPr>
          <a:xfrm>
            <a:off x="548640" y="1417320"/>
            <a:ext cx="7002496" cy="4800600"/>
          </a:xfrm>
          <a:prstGeom prst="rect">
            <a:avLst/>
          </a:prstGeom>
        </p:spPr>
      </p:pic>
      <p:sp>
        <p:nvSpPr>
          <p:cNvPr id="5" name="frame"/>
          <p:cNvSpPr/>
          <p:nvPr/>
        </p:nvSpPr>
        <p:spPr>
          <a:xfrm>
            <a:off x="548640" y="1417320"/>
            <a:ext cx="7002496" cy="4800600"/>
          </a:xfrm>
          <a:prstGeom prst="rect">
            <a:avLst/>
          </a:prstGeom>
          <a:ln w="12700">
            <a:solidFill>
              <a:srgbClr val="E0D2BC"/>
            </a:solidFill>
            <a:prstDash val="solid"/>
          </a:ln>
        </p:spPr>
      </p:sp>
      <p:sp>
        <p:nvSpPr>
          <p:cNvPr id="6" name="card"/>
          <p:cNvSpPr/>
          <p:nvPr/>
        </p:nvSpPr>
        <p:spPr>
          <a:xfrm>
            <a:off x="7863840" y="1463040"/>
            <a:ext cx="3749040" cy="2011680"/>
          </a:xfrm>
          <a:prstGeom prst="roundRect">
            <a:avLst>
              <a:gd name="adj" fmla="val 4091"/>
            </a:avLst>
          </a:prstGeom>
          <a:solidFill>
            <a:srgbClr val="7A2232"/>
          </a:solidFill>
          <a:ln w="9525">
            <a:solidFill>
              <a:srgbClr val="7A2232"/>
            </a:solidFill>
            <a:prstDash val="solid"/>
          </a:ln>
        </p:spPr>
      </p:sp>
      <p:sp>
        <p:nvSpPr>
          <p:cNvPr id="7" name="Text 4"/>
          <p:cNvSpPr txBox="1"/>
          <p:nvPr/>
        </p:nvSpPr>
        <p:spPr>
          <a:xfrm>
            <a:off x="8138160" y="1645920"/>
            <a:ext cx="3291840" cy="1737360"/>
          </a:xfrm>
          <a:prstGeom prst="rect">
            <a:avLst/>
          </a:prstGeom>
          <a:noFill/>
          <a:ln/>
        </p:spPr>
        <p:txBody>
          <a:bodyPr wrap="square" lIns="0" tIns="0" rIns="0" bIns="0" rtlCol="0" anchor="t"/>
          <a:lstStyle/>
          <a:p>
            <a:pPr indent="0" marL="0">
              <a:buNone/>
            </a:pPr>
            <a:r>
              <a:rPr lang="en-US" sz="4200" b="1" dirty="0">
                <a:solidFill>
                  <a:srgbClr val="FFFCF7"/>
                </a:solidFill>
                <a:latin typeface="Cambria" pitchFamily="34" charset="0"/>
                <a:ea typeface="Cambria" pitchFamily="34" charset="-122"/>
                <a:cs typeface="Cambria" pitchFamily="34" charset="-120"/>
              </a:rPr>
              <a:t>10 / 10</a:t>
            </a:r>
            <a:endParaRPr lang="en-US" sz="4200" dirty="0"/>
          </a:p>
          <a:p>
            <a:pPr indent="0" marL="0">
              <a:buNone/>
            </a:pPr>
            <a:r>
              <a:rPr lang="en-US" sz="1400" dirty="0">
                <a:solidFill>
                  <a:srgbClr val="F4E2E4"/>
                </a:solidFill>
                <a:latin typeface="Calibri" pitchFamily="34" charset="0"/>
                <a:ea typeface="Calibri" pitchFamily="34" charset="-122"/>
                <a:cs typeface="Calibri" pitchFamily="34" charset="-120"/>
              </a:rPr>
              <a:t>attempts to delete or change source data, history or the answer key refused</a:t>
            </a:r>
            <a:endParaRPr lang="en-US" sz="4200" dirty="0"/>
          </a:p>
        </p:txBody>
      </p:sp>
      <p:sp>
        <p:nvSpPr>
          <p:cNvPr id="8" name="Text 5"/>
          <p:cNvSpPr txBox="1"/>
          <p:nvPr/>
        </p:nvSpPr>
        <p:spPr>
          <a:xfrm>
            <a:off x="7863840" y="3749040"/>
            <a:ext cx="374904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Sent live from the app as the analysis user, on System → Runs &amp; history.</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DROP, DELETE, UPDATE, TRUNCATE and INSERT on source tables, run history and the answer key.</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Only reading is allowed, and the reply comes from Exasol itself: "insufficient privileges".</a:t>
            </a:r>
            <a:endParaRPr lang="en-US" sz="14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RESULTS</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Measured on 2,400 synthetic cases and 2.4M transactions</a:t>
            </a:r>
            <a:endParaRPr lang="en-US" sz="2800" dirty="0"/>
          </a:p>
        </p:txBody>
      </p:sp>
      <p:sp>
        <p:nvSpPr>
          <p:cNvPr id="4" name="card"/>
          <p:cNvSpPr/>
          <p:nvPr/>
        </p:nvSpPr>
        <p:spPr>
          <a:xfrm>
            <a:off x="548640" y="1463040"/>
            <a:ext cx="3566160" cy="2029968"/>
          </a:xfrm>
          <a:prstGeom prst="roundRect">
            <a:avLst>
              <a:gd name="adj" fmla="val 4054"/>
            </a:avLst>
          </a:prstGeom>
          <a:solidFill>
            <a:srgbClr val="6E7B3A"/>
          </a:solidFill>
          <a:ln w="9525">
            <a:solidFill>
              <a:srgbClr val="6E7B3A"/>
            </a:solidFill>
            <a:prstDash val="solid"/>
          </a:ln>
        </p:spPr>
      </p:sp>
      <p:sp>
        <p:nvSpPr>
          <p:cNvPr id="5" name="Text 3"/>
          <p:cNvSpPr txBox="1"/>
          <p:nvPr/>
        </p:nvSpPr>
        <p:spPr>
          <a:xfrm>
            <a:off x="822960" y="1737360"/>
            <a:ext cx="3063240" cy="777240"/>
          </a:xfrm>
          <a:prstGeom prst="rect">
            <a:avLst/>
          </a:prstGeom>
          <a:noFill/>
          <a:ln/>
        </p:spPr>
        <p:txBody>
          <a:bodyPr wrap="square" lIns="0" tIns="0" rIns="0" bIns="0" rtlCol="0" anchor="t"/>
          <a:lstStyle/>
          <a:p>
            <a:pPr indent="0" marL="0">
              <a:buNone/>
            </a:pPr>
            <a:r>
              <a:rPr lang="en-US" sz="3000" b="1" dirty="0">
                <a:solidFill>
                  <a:srgbClr val="FFFCF7"/>
                </a:solidFill>
                <a:latin typeface="Cambria" pitchFamily="34" charset="0"/>
                <a:ea typeface="Cambria" pitchFamily="34" charset="-122"/>
                <a:cs typeface="Cambria" pitchFamily="34" charset="-120"/>
              </a:rPr>
              <a:t>7,200 / 7,200</a:t>
            </a:r>
            <a:endParaRPr lang="en-US" sz="3000" dirty="0"/>
          </a:p>
        </p:txBody>
      </p:sp>
      <p:sp>
        <p:nvSpPr>
          <p:cNvPr id="6" name="Text 4"/>
          <p:cNvSpPr txBox="1"/>
          <p:nvPr/>
        </p:nvSpPr>
        <p:spPr>
          <a:xfrm>
            <a:off x="822960" y="2560320"/>
            <a:ext cx="3063240" cy="822960"/>
          </a:xfrm>
          <a:prstGeom prst="rect">
            <a:avLst/>
          </a:prstGeom>
          <a:noFill/>
          <a:ln/>
        </p:spPr>
        <p:txBody>
          <a:bodyPr wrap="square" lIns="0" tIns="0" rIns="0" bIns="0" rtlCol="0" anchor="t"/>
          <a:lstStyle/>
          <a:p>
            <a:pPr indent="0" marL="0">
              <a:buNone/>
            </a:pPr>
            <a:r>
              <a:rPr lang="en-US" sz="1400" dirty="0">
                <a:solidFill>
                  <a:srgbClr val="EAEDD9"/>
                </a:solidFill>
                <a:latin typeface="Calibri" pitchFamily="34" charset="0"/>
                <a:ea typeface="Calibri" pitchFamily="34" charset="-122"/>
                <a:cs typeface="Calibri" pitchFamily="34" charset="-120"/>
              </a:rPr>
              <a:t>conservation checks pass: every rupee accounted for</a:t>
            </a:r>
            <a:endParaRPr lang="en-US" sz="1400" dirty="0"/>
          </a:p>
        </p:txBody>
      </p:sp>
      <p:sp>
        <p:nvSpPr>
          <p:cNvPr id="7" name="card"/>
          <p:cNvSpPr/>
          <p:nvPr/>
        </p:nvSpPr>
        <p:spPr>
          <a:xfrm>
            <a:off x="4297680" y="1463040"/>
            <a:ext cx="3566160" cy="2029968"/>
          </a:xfrm>
          <a:prstGeom prst="roundRect">
            <a:avLst>
              <a:gd name="adj" fmla="val 4054"/>
            </a:avLst>
          </a:prstGeom>
          <a:solidFill>
            <a:srgbClr val="FFFCF7"/>
          </a:solidFill>
          <a:ln w="9525">
            <a:solidFill>
              <a:srgbClr val="E0D2BC"/>
            </a:solidFill>
            <a:prstDash val="solid"/>
          </a:ln>
        </p:spPr>
      </p:sp>
      <p:sp>
        <p:nvSpPr>
          <p:cNvPr id="8" name="Text 6"/>
          <p:cNvSpPr txBox="1"/>
          <p:nvPr/>
        </p:nvSpPr>
        <p:spPr>
          <a:xfrm>
            <a:off x="4572000" y="1737360"/>
            <a:ext cx="3063240" cy="777240"/>
          </a:xfrm>
          <a:prstGeom prst="rect">
            <a:avLst/>
          </a:prstGeom>
          <a:noFill/>
          <a:ln/>
        </p:spPr>
        <p:txBody>
          <a:bodyPr wrap="square" lIns="0" tIns="0" rIns="0" bIns="0" rtlCol="0" anchor="t"/>
          <a:lstStyle/>
          <a:p>
            <a:pPr indent="0" marL="0">
              <a:buNone/>
            </a:pPr>
            <a:r>
              <a:rPr lang="en-US" sz="3000" b="1" dirty="0">
                <a:solidFill>
                  <a:srgbClr val="6E7B3A"/>
                </a:solidFill>
                <a:latin typeface="Cambria" pitchFamily="34" charset="0"/>
                <a:ea typeface="Cambria" pitchFamily="34" charset="-122"/>
                <a:cs typeface="Cambria" pitchFamily="34" charset="-120"/>
              </a:rPr>
              <a:t>99.9%</a:t>
            </a:r>
            <a:endParaRPr lang="en-US" sz="3000" dirty="0"/>
          </a:p>
        </p:txBody>
      </p:sp>
      <p:sp>
        <p:nvSpPr>
          <p:cNvPr id="9" name="Text 7"/>
          <p:cNvSpPr txBox="1"/>
          <p:nvPr/>
        </p:nvSpPr>
        <p:spPr>
          <a:xfrm>
            <a:off x="4572000" y="2560320"/>
            <a:ext cx="3063240" cy="822960"/>
          </a:xfrm>
          <a:prstGeom prst="rect">
            <a:avLst/>
          </a:prstGeom>
          <a:noFill/>
          <a:ln/>
        </p:spPr>
        <p:txBody>
          <a:bodyPr wrap="square" lIns="0" tIns="0" rIns="0" bIns="0" rtlCol="0" anchor="t"/>
          <a:lstStyle/>
          <a:p>
            <a:pPr indent="0" marL="0">
              <a:buNone/>
            </a:pPr>
            <a:r>
              <a:rPr lang="en-US" sz="1400" dirty="0">
                <a:solidFill>
                  <a:srgbClr val="2A1B14"/>
                </a:solidFill>
                <a:latin typeface="Calibri" pitchFamily="34" charset="0"/>
                <a:ea typeface="Calibri" pitchFamily="34" charset="-122"/>
                <a:cs typeface="Calibri" pitchFamily="34" charset="-120"/>
              </a:rPr>
              <a:t>of account figures within one paisa of an independent ledger</a:t>
            </a:r>
            <a:endParaRPr lang="en-US" sz="1400" dirty="0"/>
          </a:p>
        </p:txBody>
      </p:sp>
      <p:sp>
        <p:nvSpPr>
          <p:cNvPr id="10" name="card"/>
          <p:cNvSpPr/>
          <p:nvPr/>
        </p:nvSpPr>
        <p:spPr>
          <a:xfrm>
            <a:off x="8046720" y="1463040"/>
            <a:ext cx="3566160" cy="2029968"/>
          </a:xfrm>
          <a:prstGeom prst="roundRect">
            <a:avLst>
              <a:gd name="adj" fmla="val 4054"/>
            </a:avLst>
          </a:prstGeom>
          <a:solidFill>
            <a:srgbClr val="FFFCF7"/>
          </a:solidFill>
          <a:ln w="9525">
            <a:solidFill>
              <a:srgbClr val="E0D2BC"/>
            </a:solidFill>
            <a:prstDash val="solid"/>
          </a:ln>
        </p:spPr>
      </p:sp>
      <p:sp>
        <p:nvSpPr>
          <p:cNvPr id="11" name="Text 9"/>
          <p:cNvSpPr txBox="1"/>
          <p:nvPr/>
        </p:nvSpPr>
        <p:spPr>
          <a:xfrm>
            <a:off x="8321040" y="1737360"/>
            <a:ext cx="3063240" cy="777240"/>
          </a:xfrm>
          <a:prstGeom prst="rect">
            <a:avLst/>
          </a:prstGeom>
          <a:noFill/>
          <a:ln/>
        </p:spPr>
        <p:txBody>
          <a:bodyPr wrap="square" lIns="0" tIns="0" rIns="0" bIns="0" rtlCol="0" anchor="t"/>
          <a:lstStyle/>
          <a:p>
            <a:pPr indent="0" marL="0">
              <a:buNone/>
            </a:pPr>
            <a:r>
              <a:rPr lang="en-US" sz="3000" b="1" dirty="0">
                <a:solidFill>
                  <a:srgbClr val="6E7B3A"/>
                </a:solidFill>
                <a:latin typeface="Cambria" pitchFamily="34" charset="0"/>
                <a:ea typeface="Cambria" pitchFamily="34" charset="-122"/>
                <a:cs typeface="Cambria" pitchFamily="34" charset="-120"/>
              </a:rPr>
              <a:t>100%</a:t>
            </a:r>
            <a:endParaRPr lang="en-US" sz="3000" dirty="0"/>
          </a:p>
        </p:txBody>
      </p:sp>
      <p:sp>
        <p:nvSpPr>
          <p:cNvPr id="12" name="Text 10"/>
          <p:cNvSpPr txBox="1"/>
          <p:nvPr/>
        </p:nvSpPr>
        <p:spPr>
          <a:xfrm>
            <a:off x="8321040" y="2560320"/>
            <a:ext cx="3063240" cy="822960"/>
          </a:xfrm>
          <a:prstGeom prst="rect">
            <a:avLst/>
          </a:prstGeom>
          <a:noFill/>
          <a:ln/>
        </p:spPr>
        <p:txBody>
          <a:bodyPr wrap="square" lIns="0" tIns="0" rIns="0" bIns="0" rtlCol="0" anchor="t"/>
          <a:lstStyle/>
          <a:p>
            <a:pPr indent="0" marL="0">
              <a:buNone/>
            </a:pPr>
            <a:r>
              <a:rPr lang="en-US" sz="1400" dirty="0">
                <a:solidFill>
                  <a:srgbClr val="2A1B14"/>
                </a:solidFill>
                <a:latin typeface="Calibri" pitchFamily="34" charset="0"/>
                <a:ea typeface="Calibri" pitchFamily="34" charset="-122"/>
                <a:cs typeface="Calibri" pitchFamily="34" charset="-120"/>
              </a:rPr>
              <a:t>precision and recall on 946 planted request defects (14 types)</a:t>
            </a:r>
            <a:endParaRPr lang="en-US" sz="1400" dirty="0"/>
          </a:p>
        </p:txBody>
      </p:sp>
      <p:sp>
        <p:nvSpPr>
          <p:cNvPr id="13" name="card"/>
          <p:cNvSpPr/>
          <p:nvPr/>
        </p:nvSpPr>
        <p:spPr>
          <a:xfrm>
            <a:off x="548640" y="3675888"/>
            <a:ext cx="3566160" cy="2029968"/>
          </a:xfrm>
          <a:prstGeom prst="roundRect">
            <a:avLst>
              <a:gd name="adj" fmla="val 4054"/>
            </a:avLst>
          </a:prstGeom>
          <a:solidFill>
            <a:srgbClr val="FFFCF7"/>
          </a:solidFill>
          <a:ln w="9525">
            <a:solidFill>
              <a:srgbClr val="E0D2BC"/>
            </a:solidFill>
            <a:prstDash val="solid"/>
          </a:ln>
        </p:spPr>
      </p:sp>
      <p:sp>
        <p:nvSpPr>
          <p:cNvPr id="14" name="Text 12"/>
          <p:cNvSpPr txBox="1"/>
          <p:nvPr/>
        </p:nvSpPr>
        <p:spPr>
          <a:xfrm>
            <a:off x="822960" y="3950208"/>
            <a:ext cx="3063240" cy="777240"/>
          </a:xfrm>
          <a:prstGeom prst="rect">
            <a:avLst/>
          </a:prstGeom>
          <a:noFill/>
          <a:ln/>
        </p:spPr>
        <p:txBody>
          <a:bodyPr wrap="square" lIns="0" tIns="0" rIns="0" bIns="0" rtlCol="0" anchor="t"/>
          <a:lstStyle/>
          <a:p>
            <a:pPr indent="0" marL="0">
              <a:buNone/>
            </a:pPr>
            <a:r>
              <a:rPr lang="en-US" sz="3000" b="1" dirty="0">
                <a:solidFill>
                  <a:srgbClr val="6E7B3A"/>
                </a:solidFill>
                <a:latin typeface="Cambria" pitchFamily="34" charset="0"/>
                <a:ea typeface="Cambria" pitchFamily="34" charset="-122"/>
                <a:cs typeface="Cambria" pitchFamily="34" charset="-120"/>
              </a:rPr>
              <a:t>99.4% / 99.9%</a:t>
            </a:r>
            <a:endParaRPr lang="en-US" sz="3000" dirty="0"/>
          </a:p>
        </p:txBody>
      </p:sp>
      <p:sp>
        <p:nvSpPr>
          <p:cNvPr id="15" name="Text 13"/>
          <p:cNvSpPr txBox="1"/>
          <p:nvPr/>
        </p:nvSpPr>
        <p:spPr>
          <a:xfrm>
            <a:off x="822960" y="4773168"/>
            <a:ext cx="3063240" cy="822960"/>
          </a:xfrm>
          <a:prstGeom prst="rect">
            <a:avLst/>
          </a:prstGeom>
          <a:noFill/>
          <a:ln/>
        </p:spPr>
        <p:txBody>
          <a:bodyPr wrap="square" lIns="0" tIns="0" rIns="0" bIns="0" rtlCol="0" anchor="t"/>
          <a:lstStyle/>
          <a:p>
            <a:pPr indent="0" marL="0">
              <a:buNone/>
            </a:pPr>
            <a:r>
              <a:rPr lang="en-US" sz="1400" dirty="0">
                <a:solidFill>
                  <a:srgbClr val="2A1B14"/>
                </a:solidFill>
                <a:latin typeface="Calibri" pitchFamily="34" charset="0"/>
                <a:ea typeface="Calibri" pitchFamily="34" charset="-122"/>
                <a:cs typeface="Calibri" pitchFamily="34" charset="-120"/>
              </a:rPr>
              <a:t>precision / recall of money-trail reconstruction</a:t>
            </a:r>
            <a:endParaRPr lang="en-US" sz="1400" dirty="0"/>
          </a:p>
        </p:txBody>
      </p:sp>
      <p:sp>
        <p:nvSpPr>
          <p:cNvPr id="16" name="card"/>
          <p:cNvSpPr/>
          <p:nvPr/>
        </p:nvSpPr>
        <p:spPr>
          <a:xfrm>
            <a:off x="4297680" y="3675888"/>
            <a:ext cx="3566160" cy="2029968"/>
          </a:xfrm>
          <a:prstGeom prst="roundRect">
            <a:avLst>
              <a:gd name="adj" fmla="val 4054"/>
            </a:avLst>
          </a:prstGeom>
          <a:solidFill>
            <a:srgbClr val="FFFCF7"/>
          </a:solidFill>
          <a:ln w="9525">
            <a:solidFill>
              <a:srgbClr val="E0D2BC"/>
            </a:solidFill>
            <a:prstDash val="solid"/>
          </a:ln>
        </p:spPr>
      </p:sp>
      <p:sp>
        <p:nvSpPr>
          <p:cNvPr id="17" name="Text 15"/>
          <p:cNvSpPr txBox="1"/>
          <p:nvPr/>
        </p:nvSpPr>
        <p:spPr>
          <a:xfrm>
            <a:off x="4572000" y="3950208"/>
            <a:ext cx="3063240" cy="777240"/>
          </a:xfrm>
          <a:prstGeom prst="rect">
            <a:avLst/>
          </a:prstGeom>
          <a:noFill/>
          <a:ln/>
        </p:spPr>
        <p:txBody>
          <a:bodyPr wrap="square" lIns="0" tIns="0" rIns="0" bIns="0" rtlCol="0" anchor="t"/>
          <a:lstStyle/>
          <a:p>
            <a:pPr indent="0" marL="0">
              <a:buNone/>
            </a:pPr>
            <a:r>
              <a:rPr lang="en-US" sz="3000" b="1" dirty="0">
                <a:solidFill>
                  <a:srgbClr val="6E7B3A"/>
                </a:solidFill>
                <a:latin typeface="Cambria" pitchFamily="34" charset="0"/>
                <a:ea typeface="Cambria" pitchFamily="34" charset="-122"/>
                <a:cs typeface="Cambria" pitchFamily="34" charset="-120"/>
              </a:rPr>
              <a:t>3,588 of 3,589</a:t>
            </a:r>
            <a:endParaRPr lang="en-US" sz="3000" dirty="0"/>
          </a:p>
        </p:txBody>
      </p:sp>
      <p:sp>
        <p:nvSpPr>
          <p:cNvPr id="18" name="Text 16"/>
          <p:cNvSpPr txBox="1"/>
          <p:nvPr/>
        </p:nvSpPr>
        <p:spPr>
          <a:xfrm>
            <a:off x="4572000" y="4773168"/>
            <a:ext cx="3063240" cy="822960"/>
          </a:xfrm>
          <a:prstGeom prst="rect">
            <a:avLst/>
          </a:prstGeom>
          <a:noFill/>
          <a:ln/>
        </p:spPr>
        <p:txBody>
          <a:bodyPr wrap="square" lIns="0" tIns="0" rIns="0" bIns="0" rtlCol="0" anchor="t"/>
          <a:lstStyle/>
          <a:p>
            <a:pPr indent="0" marL="0">
              <a:buNone/>
            </a:pPr>
            <a:r>
              <a:rPr lang="en-US" sz="1400" dirty="0">
                <a:solidFill>
                  <a:srgbClr val="2A1B14"/>
                </a:solidFill>
                <a:latin typeface="Calibri" pitchFamily="34" charset="0"/>
                <a:ea typeface="Calibri" pitchFamily="34" charset="-122"/>
                <a:cs typeface="Calibri" pitchFamily="34" charset="-120"/>
              </a:rPr>
              <a:t>over-broad requests flagged, with no false flags</a:t>
            </a:r>
            <a:endParaRPr lang="en-US" sz="1400" dirty="0"/>
          </a:p>
        </p:txBody>
      </p:sp>
      <p:sp>
        <p:nvSpPr>
          <p:cNvPr id="19" name="card"/>
          <p:cNvSpPr/>
          <p:nvPr/>
        </p:nvSpPr>
        <p:spPr>
          <a:xfrm>
            <a:off x="8046720" y="3675888"/>
            <a:ext cx="3566160" cy="2029968"/>
          </a:xfrm>
          <a:prstGeom prst="roundRect">
            <a:avLst>
              <a:gd name="adj" fmla="val 4054"/>
            </a:avLst>
          </a:prstGeom>
          <a:solidFill>
            <a:srgbClr val="2A1B14"/>
          </a:solidFill>
          <a:ln w="9525">
            <a:solidFill>
              <a:srgbClr val="2A1B14"/>
            </a:solidFill>
            <a:prstDash val="solid"/>
          </a:ln>
        </p:spPr>
      </p:sp>
      <p:sp>
        <p:nvSpPr>
          <p:cNvPr id="20" name="Text 18"/>
          <p:cNvSpPr txBox="1"/>
          <p:nvPr/>
        </p:nvSpPr>
        <p:spPr>
          <a:xfrm>
            <a:off x="8321040" y="3950208"/>
            <a:ext cx="3063240" cy="777240"/>
          </a:xfrm>
          <a:prstGeom prst="rect">
            <a:avLst/>
          </a:prstGeom>
          <a:noFill/>
          <a:ln/>
        </p:spPr>
        <p:txBody>
          <a:bodyPr wrap="square" lIns="0" tIns="0" rIns="0" bIns="0" rtlCol="0" anchor="t"/>
          <a:lstStyle/>
          <a:p>
            <a:pPr indent="0" marL="0">
              <a:buNone/>
            </a:pPr>
            <a:r>
              <a:rPr lang="en-US" sz="3000" b="1" dirty="0">
                <a:solidFill>
                  <a:srgbClr val="E39B2D"/>
                </a:solidFill>
                <a:latin typeface="Cambria" pitchFamily="34" charset="0"/>
                <a:ea typeface="Cambria" pitchFamily="34" charset="-122"/>
                <a:cs typeface="Cambria" pitchFamily="34" charset="-120"/>
              </a:rPr>
              <a:t>Same checksum</a:t>
            </a:r>
            <a:endParaRPr lang="en-US" sz="3000" dirty="0"/>
          </a:p>
        </p:txBody>
      </p:sp>
      <p:sp>
        <p:nvSpPr>
          <p:cNvPr id="21" name="Text 19"/>
          <p:cNvSpPr txBox="1"/>
          <p:nvPr/>
        </p:nvSpPr>
        <p:spPr>
          <a:xfrm>
            <a:off x="8321040" y="4773168"/>
            <a:ext cx="3063240" cy="822960"/>
          </a:xfrm>
          <a:prstGeom prst="rect">
            <a:avLst/>
          </a:prstGeom>
          <a:noFill/>
          <a:ln/>
        </p:spPr>
        <p:txBody>
          <a:bodyPr wrap="square" lIns="0" tIns="0" rIns="0" bIns="0" rtlCol="0" anchor="t"/>
          <a:lstStyle/>
          <a:p>
            <a:pPr indent="0" marL="0">
              <a:buNone/>
            </a:pPr>
            <a:r>
              <a:rPr lang="en-US" sz="1400" dirty="0">
                <a:solidFill>
                  <a:srgbClr val="F3E7D3"/>
                </a:solidFill>
                <a:latin typeface="Calibri" pitchFamily="34" charset="0"/>
                <a:ea typeface="Calibri" pitchFamily="34" charset="-122"/>
                <a:cs typeface="Calibri" pitchFamily="34" charset="-120"/>
              </a:rPr>
              <a:t>on every re-run of the same data, either way it is run</a:t>
            </a:r>
            <a:endParaRPr lang="en-US" sz="1400" dirty="0"/>
          </a:p>
        </p:txBody>
      </p:sp>
      <p:sp>
        <p:nvSpPr>
          <p:cNvPr id="22" name="Text 20"/>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100" dirty="0">
                <a:solidFill>
                  <a:srgbClr val="695544"/>
                </a:solidFill>
                <a:latin typeface="Calibri" pitchFamily="34" charset="0"/>
                <a:ea typeface="Calibri" pitchFamily="34" charset="-122"/>
                <a:cs typeface="Calibri" pitchFamily="34" charset="-120"/>
              </a:rPr>
              <a:t>The worked example from the problem statement is reproduced to the paisa. All results are on synthetic data with a separate answer key the analysis never reads; they are not evidence of real-world performance.</a:t>
            </a:r>
            <a:endParaRPr lang="en-US" sz="11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WHY IT IS DIFFERENT</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Others trace or detect. TraceHold sizes and reviews the hold</a:t>
            </a:r>
            <a:endParaRPr lang="en-US" sz="2800" dirty="0"/>
          </a:p>
        </p:txBody>
      </p:sp>
      <p:graphicFrame>
        <p:nvGraphicFramePr>
          <p:cNvPr id="15" name="comparis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480560"/>
                <a:gridCol w="1645920"/>
                <a:gridCol w="1645920"/>
                <a:gridCol w="1645920"/>
                <a:gridCol w="1645920"/>
              </a:tblGrid>
              <a:tr h="502920">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2A1B14"/>
                    </a:solidFill>
                  </a:tcPr>
                </a:tc>
                <a:tc>
                  <a:txBody>
                    <a:bodyPr/>
                    <a:lstStyle/>
                    <a:p>
                      <a:pPr algn="ctr" indent="0" marL="0">
                        <a:buNone/>
                      </a:pPr>
                      <a:r>
                        <a:rPr lang="en-US" sz="1500" b="1" dirty="0">
                          <a:solidFill>
                            <a:srgbClr val="F3E7D3"/>
                          </a:solidFill>
                          <a:latin typeface="Calibri" pitchFamily="34" charset="0"/>
                          <a:ea typeface="Calibri" pitchFamily="34" charset="-122"/>
                          <a:cs typeface="Calibri" pitchFamily="34" charset="-120"/>
                        </a:rPr>
                        <a:t>CFCFRMS / NCRP</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2A1B14"/>
                    </a:solidFill>
                  </a:tcPr>
                </a:tc>
                <a:tc>
                  <a:txBody>
                    <a:bodyPr/>
                    <a:lstStyle/>
                    <a:p>
                      <a:pPr algn="ctr" indent="0" marL="0">
                        <a:buNone/>
                      </a:pPr>
                      <a:r>
                        <a:rPr lang="en-US" sz="1500" b="1" dirty="0">
                          <a:solidFill>
                            <a:srgbClr val="F3E7D3"/>
                          </a:solidFill>
                          <a:latin typeface="Calibri" pitchFamily="34" charset="0"/>
                          <a:ea typeface="Calibri" pitchFamily="34" charset="-122"/>
                          <a:cs typeface="Calibri" pitchFamily="34" charset="-120"/>
                        </a:rPr>
                        <a:t>MuleHunter.AI</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2A1B14"/>
                    </a:solidFill>
                  </a:tcPr>
                </a:tc>
                <a:tc>
                  <a:txBody>
                    <a:bodyPr/>
                    <a:lstStyle/>
                    <a:p>
                      <a:pPr algn="ctr" indent="0" marL="0">
                        <a:buNone/>
                      </a:pPr>
                      <a:r>
                        <a:rPr lang="en-US" sz="1500" b="1" dirty="0">
                          <a:solidFill>
                            <a:srgbClr val="F3E7D3"/>
                          </a:solidFill>
                          <a:latin typeface="Calibri" pitchFamily="34" charset="0"/>
                          <a:ea typeface="Calibri" pitchFamily="34" charset="-122"/>
                          <a:cs typeface="Calibri" pitchFamily="34" charset="-120"/>
                        </a:rPr>
                        <a:t>Fund-trace tools</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2A1B14"/>
                    </a:solidFill>
                  </a:tcPr>
                </a:tc>
                <a:tc>
                  <a:txBody>
                    <a:bodyPr/>
                    <a:lstStyle/>
                    <a:p>
                      <a:pPr algn="ctr" indent="0" marL="0">
                        <a:buNone/>
                      </a:pPr>
                      <a:r>
                        <a:rPr lang="en-US" sz="1500" b="1" dirty="0">
                          <a:solidFill>
                            <a:srgbClr val="2A1B14"/>
                          </a:solidFill>
                          <a:latin typeface="Calibri" pitchFamily="34" charset="0"/>
                          <a:ea typeface="Calibri" pitchFamily="34" charset="-122"/>
                          <a:cs typeface="Calibri" pitchFamily="34" charset="-120"/>
                        </a:rPr>
                        <a:t>TraceHold</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39B2D"/>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Coordinate reporting across banks and police</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uses its output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Detect suspicious (mule) accounts</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not by design</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Trace the money across accounts</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Size the supportable hold per account</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Show uncertainty as a range under stated methods</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Check the request and flag over-broad holds</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Review existing holds by size and age</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FFCF7"/>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r h="502920">
                <a:tc>
                  <a:txBody>
                    <a:bodyPr/>
                    <a:lstStyle/>
                    <a:p>
                      <a:pPr algn="l" indent="0" marL="0">
                        <a:buNone/>
                      </a:pPr>
                      <a:r>
                        <a:rPr lang="en-US" sz="1400" b="1" dirty="0">
                          <a:solidFill>
                            <a:srgbClr val="2A1B14"/>
                          </a:solidFill>
                          <a:latin typeface="Calibri" pitchFamily="34" charset="0"/>
                          <a:ea typeface="Calibri" pitchFamily="34" charset="-122"/>
                          <a:cs typeface="Calibri" pitchFamily="34" charset="-120"/>
                        </a:rPr>
                        <a:t>Evidence packet citing every transaction</a:t>
                      </a:r>
                      <a:endParaRPr lang="en-US" sz="14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dirty="0">
                          <a:solidFill>
                            <a:srgbClr val="2A1B14"/>
                          </a:solidFill>
                          <a:latin typeface="Calibri" pitchFamily="34" charset="0"/>
                          <a:ea typeface="Calibri" pitchFamily="34" charset="-122"/>
                          <a:cs typeface="Calibri" pitchFamily="34" charset="-120"/>
                        </a:rPr>
                        <a:t>reports</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F6F0E6"/>
                    </a:solidFill>
                  </a:tcPr>
                </a:tc>
                <a:tc>
                  <a:txBody>
                    <a:bodyPr/>
                    <a:lstStyle/>
                    <a:p>
                      <a:pPr algn="ctr" indent="0" marL="0">
                        <a:buNone/>
                      </a:pPr>
                      <a:r>
                        <a:rPr lang="en-US" sz="1500" b="1" dirty="0">
                          <a:solidFill>
                            <a:srgbClr val="6E7B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E0D2BC"/>
                      </a:solidFill>
                      <a:prstDash val="solid"/>
                      <a:round/>
                      <a:headEnd type="none" w="med" len="med"/>
                      <a:tailEnd type="none" w="med" len="med"/>
                    </a:lnL>
                    <a:lnR w="9525" cap="flat" cmpd="sng" algn="ctr">
                      <a:solidFill>
                        <a:srgbClr val="E0D2BC"/>
                      </a:solidFill>
                      <a:prstDash val="solid"/>
                      <a:round/>
                      <a:headEnd type="none" w="med" len="med"/>
                      <a:tailEnd type="none" w="med" len="med"/>
                    </a:lnR>
                    <a:lnT w="9525" cap="flat" cmpd="sng" algn="ctr">
                      <a:solidFill>
                        <a:srgbClr val="E0D2BC"/>
                      </a:solidFill>
                      <a:prstDash val="solid"/>
                      <a:round/>
                      <a:headEnd type="none" w="med" len="med"/>
                      <a:tailEnd type="none" w="med" len="med"/>
                    </a:lnT>
                    <a:lnB w="9525" cap="flat" cmpd="sng" algn="ctr">
                      <a:solidFill>
                        <a:srgbClr val="E0D2BC"/>
                      </a:solidFill>
                      <a:prstDash val="solid"/>
                      <a:round/>
                      <a:headEnd type="none" w="med" len="med"/>
                      <a:tailEnd type="none" w="med" len="med"/>
                    </a:lnB>
                    <a:solidFill>
                      <a:srgbClr val="EAEDD9"/>
                    </a:solidFill>
                  </a:tcPr>
                </a:tc>
              </a:tr>
            </a:tbl>
          </a:graphicData>
        </a:graphic>
      </p:graphicFrame>
      <p:sp>
        <p:nvSpPr>
          <p:cNvPr id="5" name="Text 2"/>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100" dirty="0">
                <a:solidFill>
                  <a:srgbClr val="695544"/>
                </a:solidFill>
                <a:latin typeface="Calibri" pitchFamily="34" charset="0"/>
                <a:ea typeface="Calibri" pitchFamily="34" charset="-122"/>
                <a:cs typeface="Calibri" pitchFamily="34" charset="-120"/>
              </a:rPr>
              <a:t>Based on public descriptions of existing systems; capabilities inside banks may differ. TraceHold does not claim to be first.</a:t>
            </a:r>
            <a:endParaRPr lang="en-US" sz="11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RESPONSIBLE USE</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Careful by design, honest about its limits</a:t>
            </a:r>
            <a:endParaRPr lang="en-US" sz="2800" dirty="0"/>
          </a:p>
        </p:txBody>
      </p:sp>
      <p:sp>
        <p:nvSpPr>
          <p:cNvPr id="4" name="card"/>
          <p:cNvSpPr/>
          <p:nvPr/>
        </p:nvSpPr>
        <p:spPr>
          <a:xfrm>
            <a:off x="548640" y="1463040"/>
            <a:ext cx="5440680" cy="1371600"/>
          </a:xfrm>
          <a:prstGeom prst="roundRect">
            <a:avLst>
              <a:gd name="adj" fmla="val 6000"/>
            </a:avLst>
          </a:prstGeom>
          <a:solidFill>
            <a:srgbClr val="FFFCF7"/>
          </a:solidFill>
          <a:ln w="9525">
            <a:solidFill>
              <a:srgbClr val="E0D2BC"/>
            </a:solidFill>
            <a:prstDash val="solid"/>
          </a:ln>
        </p:spPr>
      </p:sp>
      <p:sp>
        <p:nvSpPr>
          <p:cNvPr id="5" name="badge 1"/>
          <p:cNvSpPr/>
          <p:nvPr/>
        </p:nvSpPr>
        <p:spPr>
          <a:xfrm>
            <a:off x="822960" y="1755648"/>
            <a:ext cx="457200" cy="457200"/>
          </a:xfrm>
          <a:prstGeom prst="ellipse">
            <a:avLst/>
          </a:prstGeom>
          <a:solidFill>
            <a:srgbClr val="6E7B3A"/>
          </a:solidFill>
          <a:ln w="12700">
            <a:solidFill>
              <a:srgbClr val="6E7B3A"/>
            </a:solidFill>
            <a:prstDash val="solid"/>
          </a:ln>
        </p:spPr>
      </p:sp>
      <p:sp>
        <p:nvSpPr>
          <p:cNvPr id="6" name="Text 4"/>
          <p:cNvSpPr txBox="1"/>
          <p:nvPr/>
        </p:nvSpPr>
        <p:spPr>
          <a:xfrm>
            <a:off x="822960" y="1755648"/>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508760" y="1691640"/>
            <a:ext cx="42519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 person decides</a:t>
            </a:r>
            <a:endParaRPr lang="en-US" sz="1800" dirty="0"/>
          </a:p>
        </p:txBody>
      </p:sp>
      <p:sp>
        <p:nvSpPr>
          <p:cNvPr id="8" name="Text 6"/>
          <p:cNvSpPr txBox="1"/>
          <p:nvPr/>
        </p:nvSpPr>
        <p:spPr>
          <a:xfrm>
            <a:off x="1508760" y="2121408"/>
            <a:ext cx="4251960" cy="6400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TraceHold never places, changes or releases a hold, and never decides guilt.</a:t>
            </a:r>
            <a:endParaRPr lang="en-US" sz="1400" dirty="0"/>
          </a:p>
        </p:txBody>
      </p:sp>
      <p:sp>
        <p:nvSpPr>
          <p:cNvPr id="9" name="card"/>
          <p:cNvSpPr/>
          <p:nvPr/>
        </p:nvSpPr>
        <p:spPr>
          <a:xfrm>
            <a:off x="6172200" y="1463040"/>
            <a:ext cx="5440680" cy="1371600"/>
          </a:xfrm>
          <a:prstGeom prst="roundRect">
            <a:avLst>
              <a:gd name="adj" fmla="val 6000"/>
            </a:avLst>
          </a:prstGeom>
          <a:solidFill>
            <a:srgbClr val="FFFCF7"/>
          </a:solidFill>
          <a:ln w="9525">
            <a:solidFill>
              <a:srgbClr val="E0D2BC"/>
            </a:solidFill>
            <a:prstDash val="solid"/>
          </a:ln>
        </p:spPr>
      </p:sp>
      <p:sp>
        <p:nvSpPr>
          <p:cNvPr id="10" name="badge 2"/>
          <p:cNvSpPr/>
          <p:nvPr/>
        </p:nvSpPr>
        <p:spPr>
          <a:xfrm>
            <a:off x="6446520" y="1755648"/>
            <a:ext cx="457200" cy="457200"/>
          </a:xfrm>
          <a:prstGeom prst="ellipse">
            <a:avLst/>
          </a:prstGeom>
          <a:solidFill>
            <a:srgbClr val="6E7B3A"/>
          </a:solidFill>
          <a:ln w="12700">
            <a:solidFill>
              <a:srgbClr val="6E7B3A"/>
            </a:solidFill>
            <a:prstDash val="solid"/>
          </a:ln>
        </p:spPr>
      </p:sp>
      <p:sp>
        <p:nvSpPr>
          <p:cNvPr id="11" name="Text 9"/>
          <p:cNvSpPr txBox="1"/>
          <p:nvPr/>
        </p:nvSpPr>
        <p:spPr>
          <a:xfrm>
            <a:off x="6446520" y="1755648"/>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132320" y="1691640"/>
            <a:ext cx="42519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No labels, no scores</a:t>
            </a:r>
            <a:endParaRPr lang="en-US" sz="1800" dirty="0"/>
          </a:p>
        </p:txBody>
      </p:sp>
      <p:sp>
        <p:nvSpPr>
          <p:cNvPr id="13" name="Text 11"/>
          <p:cNvSpPr txBox="1"/>
          <p:nvPr/>
        </p:nvSpPr>
        <p:spPr>
          <a:xfrm>
            <a:off x="7132320" y="2121408"/>
            <a:ext cx="4251960" cy="6400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It reports facts for exceptional cases and never calls anyone a mule.</a:t>
            </a:r>
            <a:endParaRPr lang="en-US" sz="1400" dirty="0"/>
          </a:p>
        </p:txBody>
      </p:sp>
      <p:sp>
        <p:nvSpPr>
          <p:cNvPr id="14" name="card"/>
          <p:cNvSpPr/>
          <p:nvPr/>
        </p:nvSpPr>
        <p:spPr>
          <a:xfrm>
            <a:off x="548640" y="3017520"/>
            <a:ext cx="5440680" cy="1371600"/>
          </a:xfrm>
          <a:prstGeom prst="roundRect">
            <a:avLst>
              <a:gd name="adj" fmla="val 6000"/>
            </a:avLst>
          </a:prstGeom>
          <a:solidFill>
            <a:srgbClr val="FFFCF7"/>
          </a:solidFill>
          <a:ln w="9525">
            <a:solidFill>
              <a:srgbClr val="E0D2BC"/>
            </a:solidFill>
            <a:prstDash val="solid"/>
          </a:ln>
        </p:spPr>
      </p:sp>
      <p:sp>
        <p:nvSpPr>
          <p:cNvPr id="15" name="badge 3"/>
          <p:cNvSpPr/>
          <p:nvPr/>
        </p:nvSpPr>
        <p:spPr>
          <a:xfrm>
            <a:off x="822960" y="3310128"/>
            <a:ext cx="457200" cy="457200"/>
          </a:xfrm>
          <a:prstGeom prst="ellipse">
            <a:avLst/>
          </a:prstGeom>
          <a:solidFill>
            <a:srgbClr val="B5781F"/>
          </a:solidFill>
          <a:ln w="12700">
            <a:solidFill>
              <a:srgbClr val="B5781F"/>
            </a:solidFill>
            <a:prstDash val="solid"/>
          </a:ln>
        </p:spPr>
      </p:sp>
      <p:sp>
        <p:nvSpPr>
          <p:cNvPr id="16" name="Text 14"/>
          <p:cNvSpPr txBox="1"/>
          <p:nvPr/>
        </p:nvSpPr>
        <p:spPr>
          <a:xfrm>
            <a:off x="822960" y="3310128"/>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508760" y="3246120"/>
            <a:ext cx="42519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Conventions are estimates</a:t>
            </a:r>
            <a:endParaRPr lang="en-US" sz="1800" dirty="0"/>
          </a:p>
        </p:txBody>
      </p:sp>
      <p:sp>
        <p:nvSpPr>
          <p:cNvPr id="18" name="Text 16"/>
          <p:cNvSpPr txBox="1"/>
          <p:nvPr/>
        </p:nvSpPr>
        <p:spPr>
          <a:xfrm>
            <a:off x="1508760" y="3675888"/>
            <a:ext cx="4251960" cy="6400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Pro-rata and FIFO are disclosed methods, not legal findings about ownership.</a:t>
            </a:r>
            <a:endParaRPr lang="en-US" sz="1400" dirty="0"/>
          </a:p>
        </p:txBody>
      </p:sp>
      <p:sp>
        <p:nvSpPr>
          <p:cNvPr id="19" name="card"/>
          <p:cNvSpPr/>
          <p:nvPr/>
        </p:nvSpPr>
        <p:spPr>
          <a:xfrm>
            <a:off x="6172200" y="3017520"/>
            <a:ext cx="5440680" cy="1371600"/>
          </a:xfrm>
          <a:prstGeom prst="roundRect">
            <a:avLst>
              <a:gd name="adj" fmla="val 6000"/>
            </a:avLst>
          </a:prstGeom>
          <a:solidFill>
            <a:srgbClr val="FFFCF7"/>
          </a:solidFill>
          <a:ln w="9525">
            <a:solidFill>
              <a:srgbClr val="E0D2BC"/>
            </a:solidFill>
            <a:prstDash val="solid"/>
          </a:ln>
        </p:spPr>
      </p:sp>
      <p:sp>
        <p:nvSpPr>
          <p:cNvPr id="20" name="badge 4"/>
          <p:cNvSpPr/>
          <p:nvPr/>
        </p:nvSpPr>
        <p:spPr>
          <a:xfrm>
            <a:off x="6446520" y="3310128"/>
            <a:ext cx="457200" cy="457200"/>
          </a:xfrm>
          <a:prstGeom prst="ellipse">
            <a:avLst/>
          </a:prstGeom>
          <a:solidFill>
            <a:srgbClr val="B5781F"/>
          </a:solidFill>
          <a:ln w="12700">
            <a:solidFill>
              <a:srgbClr val="B5781F"/>
            </a:solidFill>
            <a:prstDash val="solid"/>
          </a:ln>
        </p:spPr>
      </p:sp>
      <p:sp>
        <p:nvSpPr>
          <p:cNvPr id="21" name="Text 19"/>
          <p:cNvSpPr txBox="1"/>
          <p:nvPr/>
        </p:nvSpPr>
        <p:spPr>
          <a:xfrm>
            <a:off x="6446520" y="3310128"/>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132320" y="3246120"/>
            <a:ext cx="42519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Abstains when unsure</a:t>
            </a:r>
            <a:endParaRPr lang="en-US" sz="1800" dirty="0"/>
          </a:p>
        </p:txBody>
      </p:sp>
      <p:sp>
        <p:nvSpPr>
          <p:cNvPr id="23" name="Text 21"/>
          <p:cNvSpPr txBox="1"/>
          <p:nvPr/>
        </p:nvSpPr>
        <p:spPr>
          <a:xfrm>
            <a:off x="7132320" y="3675888"/>
            <a:ext cx="4251960" cy="6400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Missing records give 'Undeterminable', never a guessed number.</a:t>
            </a:r>
            <a:endParaRPr lang="en-US" sz="1400" dirty="0"/>
          </a:p>
        </p:txBody>
      </p:sp>
      <p:sp>
        <p:nvSpPr>
          <p:cNvPr id="24" name="card"/>
          <p:cNvSpPr/>
          <p:nvPr/>
        </p:nvSpPr>
        <p:spPr>
          <a:xfrm>
            <a:off x="548640" y="4572000"/>
            <a:ext cx="5440680" cy="1371600"/>
          </a:xfrm>
          <a:prstGeom prst="roundRect">
            <a:avLst>
              <a:gd name="adj" fmla="val 6000"/>
            </a:avLst>
          </a:prstGeom>
          <a:solidFill>
            <a:srgbClr val="FFFCF7"/>
          </a:solidFill>
          <a:ln w="9525">
            <a:solidFill>
              <a:srgbClr val="E0D2BC"/>
            </a:solidFill>
            <a:prstDash val="solid"/>
          </a:ln>
        </p:spPr>
      </p:sp>
      <p:sp>
        <p:nvSpPr>
          <p:cNvPr id="25" name="badge 5"/>
          <p:cNvSpPr/>
          <p:nvPr/>
        </p:nvSpPr>
        <p:spPr>
          <a:xfrm>
            <a:off x="822960" y="4864608"/>
            <a:ext cx="457200" cy="457200"/>
          </a:xfrm>
          <a:prstGeom prst="ellipse">
            <a:avLst/>
          </a:prstGeom>
          <a:solidFill>
            <a:srgbClr val="C2553A"/>
          </a:solidFill>
          <a:ln w="12700">
            <a:solidFill>
              <a:srgbClr val="C2553A"/>
            </a:solidFill>
            <a:prstDash val="solid"/>
          </a:ln>
        </p:spPr>
      </p:sp>
      <p:sp>
        <p:nvSpPr>
          <p:cNvPr id="26" name="Text 24"/>
          <p:cNvSpPr txBox="1"/>
          <p:nvPr/>
        </p:nvSpPr>
        <p:spPr>
          <a:xfrm>
            <a:off x="822960" y="4864608"/>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1508760" y="4800600"/>
            <a:ext cx="42519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One bank's view</a:t>
            </a:r>
            <a:endParaRPr lang="en-US" sz="1800" dirty="0"/>
          </a:p>
        </p:txBody>
      </p:sp>
      <p:sp>
        <p:nvSpPr>
          <p:cNvPr id="28" name="Text 26"/>
          <p:cNvSpPr txBox="1"/>
          <p:nvPr/>
        </p:nvSpPr>
        <p:spPr>
          <a:xfrm>
            <a:off x="1508760" y="5230368"/>
            <a:ext cx="4251960" cy="6400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Money leaving the records gets a forwarded request, not a guess.</a:t>
            </a:r>
            <a:endParaRPr lang="en-US" sz="1400" dirty="0"/>
          </a:p>
        </p:txBody>
      </p:sp>
      <p:sp>
        <p:nvSpPr>
          <p:cNvPr id="29" name="card"/>
          <p:cNvSpPr/>
          <p:nvPr/>
        </p:nvSpPr>
        <p:spPr>
          <a:xfrm>
            <a:off x="6172200" y="4572000"/>
            <a:ext cx="5440680" cy="1371600"/>
          </a:xfrm>
          <a:prstGeom prst="roundRect">
            <a:avLst>
              <a:gd name="adj" fmla="val 6000"/>
            </a:avLst>
          </a:prstGeom>
          <a:solidFill>
            <a:srgbClr val="FFFCF7"/>
          </a:solidFill>
          <a:ln w="9525">
            <a:solidFill>
              <a:srgbClr val="E0D2BC"/>
            </a:solidFill>
            <a:prstDash val="solid"/>
          </a:ln>
        </p:spPr>
      </p:sp>
      <p:sp>
        <p:nvSpPr>
          <p:cNvPr id="30" name="badge 6"/>
          <p:cNvSpPr/>
          <p:nvPr/>
        </p:nvSpPr>
        <p:spPr>
          <a:xfrm>
            <a:off x="6446520" y="4864608"/>
            <a:ext cx="457200" cy="457200"/>
          </a:xfrm>
          <a:prstGeom prst="ellipse">
            <a:avLst/>
          </a:prstGeom>
          <a:solidFill>
            <a:srgbClr val="C2553A"/>
          </a:solidFill>
          <a:ln w="12700">
            <a:solidFill>
              <a:srgbClr val="C2553A"/>
            </a:solidFill>
            <a:prstDash val="solid"/>
          </a:ln>
        </p:spPr>
      </p:sp>
      <p:sp>
        <p:nvSpPr>
          <p:cNvPr id="31" name="Text 29"/>
          <p:cNvSpPr txBox="1"/>
          <p:nvPr/>
        </p:nvSpPr>
        <p:spPr>
          <a:xfrm>
            <a:off x="6446520" y="4864608"/>
            <a:ext cx="457200" cy="457200"/>
          </a:xfrm>
          <a:prstGeom prst="rect">
            <a:avLst/>
          </a:prstGeom>
          <a:noFill/>
          <a:ln/>
        </p:spPr>
        <p:txBody>
          <a:bodyPr wrap="square" lIns="0" tIns="0" rIns="0" bIns="0" rtlCol="0" anchor="ctr"/>
          <a:lstStyle/>
          <a:p>
            <a:pPr algn="ctr" indent="0" marL="0">
              <a:buNone/>
            </a:pPr>
            <a:r>
              <a:rPr lang="en-US" sz="1600" b="1" dirty="0">
                <a:solidFill>
                  <a:srgbClr val="FFFCF7"/>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7132320" y="4800600"/>
            <a:ext cx="42519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Synthetic data only</a:t>
            </a:r>
            <a:endParaRPr lang="en-US" sz="1800" dirty="0"/>
          </a:p>
        </p:txBody>
      </p:sp>
      <p:sp>
        <p:nvSpPr>
          <p:cNvPr id="33" name="Text 31"/>
          <p:cNvSpPr txBox="1"/>
          <p:nvPr/>
        </p:nvSpPr>
        <p:spPr>
          <a:xfrm>
            <a:off x="7132320" y="5230368"/>
            <a:ext cx="4251960" cy="640080"/>
          </a:xfrm>
          <a:prstGeom prst="rect">
            <a:avLst/>
          </a:prstGeom>
          <a:noFill/>
          <a:ln/>
        </p:spPr>
        <p:txBody>
          <a:bodyPr wrap="square" lIns="0" tIns="0" rIns="0" bIns="0" rtlCol="0" anchor="t"/>
          <a:lstStyle/>
          <a:p>
            <a:pPr indent="0" marL="0">
              <a:buNone/>
            </a:pPr>
            <a:r>
              <a:rPr lang="en-US" sz="1400" dirty="0">
                <a:solidFill>
                  <a:srgbClr val="5B4636"/>
                </a:solidFill>
                <a:latin typeface="Calibri" pitchFamily="34" charset="0"/>
                <a:ea typeface="Calibri" pitchFamily="34" charset="-122"/>
                <a:cs typeface="Calibri" pitchFamily="34" charset="-120"/>
              </a:rPr>
              <a:t>Patterns mirror the real problem in shape only; rules follow commentaries to be checked against primary texts.</a:t>
            </a:r>
            <a:endParaRPr lang="en-US" sz="14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BUILD AND RUN</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Open source, reproducible, runs on a laptop</a:t>
            </a:r>
            <a:endParaRPr lang="en-US" sz="2800" dirty="0"/>
          </a:p>
        </p:txBody>
      </p:sp>
      <p:sp>
        <p:nvSpPr>
          <p:cNvPr id="4" name="Text 2"/>
          <p:cNvSpPr txBox="1"/>
          <p:nvPr/>
        </p:nvSpPr>
        <p:spPr>
          <a:xfrm>
            <a:off x="548640" y="1508760"/>
            <a:ext cx="2377440" cy="502920"/>
          </a:xfrm>
          <a:prstGeom prst="rect">
            <a:avLst/>
          </a:prstGeom>
          <a:noFill/>
          <a:ln/>
        </p:spPr>
        <p:txBody>
          <a:bodyPr wrap="square" lIns="0" tIns="0" rIns="0" bIns="0" rtlCol="0" anchor="ctr"/>
          <a:lstStyle/>
          <a:p>
            <a:pPr indent="0" marL="0">
              <a:buNone/>
            </a:pPr>
            <a:r>
              <a:rPr lang="en-US" sz="1400" b="1" dirty="0">
                <a:solidFill>
                  <a:srgbClr val="6E7B3A"/>
                </a:solidFill>
                <a:latin typeface="Calibri" pitchFamily="34" charset="0"/>
                <a:ea typeface="Calibri" pitchFamily="34" charset="-122"/>
                <a:cs typeface="Calibri" pitchFamily="34" charset="-120"/>
              </a:rPr>
              <a:t>Database and analytics</a:t>
            </a:r>
            <a:endParaRPr lang="en-US" sz="1400" dirty="0"/>
          </a:p>
        </p:txBody>
      </p:sp>
      <p:sp>
        <p:nvSpPr>
          <p:cNvPr id="5" name="Text 3"/>
          <p:cNvSpPr txBox="1"/>
          <p:nvPr/>
        </p:nvSpPr>
        <p:spPr>
          <a:xfrm>
            <a:off x="2971800" y="1508760"/>
            <a:ext cx="35661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Exasol Personal (nano runtime in Docker)</a:t>
            </a:r>
            <a:endParaRPr lang="en-US" sz="1400" dirty="0"/>
          </a:p>
        </p:txBody>
      </p:sp>
      <p:sp>
        <p:nvSpPr>
          <p:cNvPr id="6" name="stack rule 0"/>
          <p:cNvSpPr/>
          <p:nvPr/>
        </p:nvSpPr>
        <p:spPr>
          <a:xfrm>
            <a:off x="548640" y="2112264"/>
            <a:ext cx="5989320" cy="0"/>
          </a:xfrm>
          <a:prstGeom prst="line">
            <a:avLst/>
          </a:prstGeom>
          <a:noFill/>
          <a:ln w="9525">
            <a:solidFill>
              <a:srgbClr val="E0D2BC"/>
            </a:solidFill>
            <a:prstDash val="solid"/>
          </a:ln>
        </p:spPr>
      </p:sp>
      <p:sp>
        <p:nvSpPr>
          <p:cNvPr id="7" name="Text 5"/>
          <p:cNvSpPr txBox="1"/>
          <p:nvPr/>
        </p:nvSpPr>
        <p:spPr>
          <a:xfrm>
            <a:off x="548640" y="2221992"/>
            <a:ext cx="2377440" cy="502920"/>
          </a:xfrm>
          <a:prstGeom prst="rect">
            <a:avLst/>
          </a:prstGeom>
          <a:noFill/>
          <a:ln/>
        </p:spPr>
        <p:txBody>
          <a:bodyPr wrap="square" lIns="0" tIns="0" rIns="0" bIns="0" rtlCol="0" anchor="ctr"/>
          <a:lstStyle/>
          <a:p>
            <a:pPr indent="0" marL="0">
              <a:buNone/>
            </a:pPr>
            <a:r>
              <a:rPr lang="en-US" sz="1400" b="1" dirty="0">
                <a:solidFill>
                  <a:srgbClr val="6E7B3A"/>
                </a:solidFill>
                <a:latin typeface="Calibri" pitchFamily="34" charset="0"/>
                <a:ea typeface="Calibri" pitchFamily="34" charset="-122"/>
                <a:cs typeface="Calibri" pitchFamily="34" charset="-120"/>
              </a:rPr>
              <a:t>Analysis</a:t>
            </a:r>
            <a:endParaRPr lang="en-US" sz="1400" dirty="0"/>
          </a:p>
        </p:txBody>
      </p:sp>
      <p:sp>
        <p:nvSpPr>
          <p:cNvPr id="8" name="Text 6"/>
          <p:cNvSpPr txBox="1"/>
          <p:nvPr/>
        </p:nvSpPr>
        <p:spPr>
          <a:xfrm>
            <a:off x="2971800" y="2221992"/>
            <a:ext cx="35661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Set-based SQL and an Exasol Lua script</a:t>
            </a:r>
            <a:endParaRPr lang="en-US" sz="1400" dirty="0"/>
          </a:p>
        </p:txBody>
      </p:sp>
      <p:sp>
        <p:nvSpPr>
          <p:cNvPr id="9" name="stack rule 1"/>
          <p:cNvSpPr/>
          <p:nvPr/>
        </p:nvSpPr>
        <p:spPr>
          <a:xfrm>
            <a:off x="548640" y="2825496"/>
            <a:ext cx="5989320" cy="0"/>
          </a:xfrm>
          <a:prstGeom prst="line">
            <a:avLst/>
          </a:prstGeom>
          <a:noFill/>
          <a:ln w="9525">
            <a:solidFill>
              <a:srgbClr val="E0D2BC"/>
            </a:solidFill>
            <a:prstDash val="solid"/>
          </a:ln>
        </p:spPr>
      </p:sp>
      <p:sp>
        <p:nvSpPr>
          <p:cNvPr id="10" name="Text 8"/>
          <p:cNvSpPr txBox="1"/>
          <p:nvPr/>
        </p:nvSpPr>
        <p:spPr>
          <a:xfrm>
            <a:off x="548640" y="2935224"/>
            <a:ext cx="2377440" cy="502920"/>
          </a:xfrm>
          <a:prstGeom prst="rect">
            <a:avLst/>
          </a:prstGeom>
          <a:noFill/>
          <a:ln/>
        </p:spPr>
        <p:txBody>
          <a:bodyPr wrap="square" lIns="0" tIns="0" rIns="0" bIns="0" rtlCol="0" anchor="ctr"/>
          <a:lstStyle/>
          <a:p>
            <a:pPr indent="0" marL="0">
              <a:buNone/>
            </a:pPr>
            <a:r>
              <a:rPr lang="en-US" sz="1400" b="1" dirty="0">
                <a:solidFill>
                  <a:srgbClr val="6E7B3A"/>
                </a:solidFill>
                <a:latin typeface="Calibri" pitchFamily="34" charset="0"/>
                <a:ea typeface="Calibri" pitchFamily="34" charset="-122"/>
                <a:cs typeface="Calibri" pitchFamily="34" charset="-120"/>
              </a:rPr>
              <a:t>Backend</a:t>
            </a:r>
            <a:endParaRPr lang="en-US" sz="1400" dirty="0"/>
          </a:p>
        </p:txBody>
      </p:sp>
      <p:sp>
        <p:nvSpPr>
          <p:cNvPr id="11" name="Text 9"/>
          <p:cNvSpPr txBox="1"/>
          <p:nvPr/>
        </p:nvSpPr>
        <p:spPr>
          <a:xfrm>
            <a:off x="2971800" y="2935224"/>
            <a:ext cx="35661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Python, FastAPI, pyexasol</a:t>
            </a:r>
            <a:endParaRPr lang="en-US" sz="1400" dirty="0"/>
          </a:p>
        </p:txBody>
      </p:sp>
      <p:sp>
        <p:nvSpPr>
          <p:cNvPr id="12" name="stack rule 2"/>
          <p:cNvSpPr/>
          <p:nvPr/>
        </p:nvSpPr>
        <p:spPr>
          <a:xfrm>
            <a:off x="548640" y="3538728"/>
            <a:ext cx="5989320" cy="0"/>
          </a:xfrm>
          <a:prstGeom prst="line">
            <a:avLst/>
          </a:prstGeom>
          <a:noFill/>
          <a:ln w="9525">
            <a:solidFill>
              <a:srgbClr val="E0D2BC"/>
            </a:solidFill>
            <a:prstDash val="solid"/>
          </a:ln>
        </p:spPr>
      </p:sp>
      <p:sp>
        <p:nvSpPr>
          <p:cNvPr id="13" name="Text 11"/>
          <p:cNvSpPr txBox="1"/>
          <p:nvPr/>
        </p:nvSpPr>
        <p:spPr>
          <a:xfrm>
            <a:off x="548640" y="3648456"/>
            <a:ext cx="2377440" cy="502920"/>
          </a:xfrm>
          <a:prstGeom prst="rect">
            <a:avLst/>
          </a:prstGeom>
          <a:noFill/>
          <a:ln/>
        </p:spPr>
        <p:txBody>
          <a:bodyPr wrap="square" lIns="0" tIns="0" rIns="0" bIns="0" rtlCol="0" anchor="ctr"/>
          <a:lstStyle/>
          <a:p>
            <a:pPr indent="0" marL="0">
              <a:buNone/>
            </a:pPr>
            <a:r>
              <a:rPr lang="en-US" sz="1400" b="1" dirty="0">
                <a:solidFill>
                  <a:srgbClr val="6E7B3A"/>
                </a:solidFill>
                <a:latin typeface="Calibri" pitchFamily="34" charset="0"/>
                <a:ea typeface="Calibri" pitchFamily="34" charset="-122"/>
                <a:cs typeface="Calibri" pitchFamily="34" charset="-120"/>
              </a:rPr>
              <a:t>AI (optional)</a:t>
            </a:r>
            <a:endParaRPr lang="en-US" sz="1400" dirty="0"/>
          </a:p>
        </p:txBody>
      </p:sp>
      <p:sp>
        <p:nvSpPr>
          <p:cNvPr id="14" name="Text 12"/>
          <p:cNvSpPr txBox="1"/>
          <p:nvPr/>
        </p:nvSpPr>
        <p:spPr>
          <a:xfrm>
            <a:off x="2971800" y="3648456"/>
            <a:ext cx="35661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Groq model; Exasol MCP server</a:t>
            </a:r>
            <a:endParaRPr lang="en-US" sz="1400" dirty="0"/>
          </a:p>
        </p:txBody>
      </p:sp>
      <p:sp>
        <p:nvSpPr>
          <p:cNvPr id="15" name="stack rule 3"/>
          <p:cNvSpPr/>
          <p:nvPr/>
        </p:nvSpPr>
        <p:spPr>
          <a:xfrm>
            <a:off x="548640" y="4251960"/>
            <a:ext cx="5989320" cy="0"/>
          </a:xfrm>
          <a:prstGeom prst="line">
            <a:avLst/>
          </a:prstGeom>
          <a:noFill/>
          <a:ln w="9525">
            <a:solidFill>
              <a:srgbClr val="E0D2BC"/>
            </a:solidFill>
            <a:prstDash val="solid"/>
          </a:ln>
        </p:spPr>
      </p:sp>
      <p:sp>
        <p:nvSpPr>
          <p:cNvPr id="16" name="Text 14"/>
          <p:cNvSpPr txBox="1"/>
          <p:nvPr/>
        </p:nvSpPr>
        <p:spPr>
          <a:xfrm>
            <a:off x="548640" y="4361688"/>
            <a:ext cx="2377440" cy="502920"/>
          </a:xfrm>
          <a:prstGeom prst="rect">
            <a:avLst/>
          </a:prstGeom>
          <a:noFill/>
          <a:ln/>
        </p:spPr>
        <p:txBody>
          <a:bodyPr wrap="square" lIns="0" tIns="0" rIns="0" bIns="0" rtlCol="0" anchor="ctr"/>
          <a:lstStyle/>
          <a:p>
            <a:pPr indent="0" marL="0">
              <a:buNone/>
            </a:pPr>
            <a:r>
              <a:rPr lang="en-US" sz="1400" b="1" dirty="0">
                <a:solidFill>
                  <a:srgbClr val="6E7B3A"/>
                </a:solidFill>
                <a:latin typeface="Calibri" pitchFamily="34" charset="0"/>
                <a:ea typeface="Calibri" pitchFamily="34" charset="-122"/>
                <a:cs typeface="Calibri" pitchFamily="34" charset="-120"/>
              </a:rPr>
              <a:t>Frontend</a:t>
            </a:r>
            <a:endParaRPr lang="en-US" sz="1400" dirty="0"/>
          </a:p>
        </p:txBody>
      </p:sp>
      <p:sp>
        <p:nvSpPr>
          <p:cNvPr id="17" name="Text 15"/>
          <p:cNvSpPr txBox="1"/>
          <p:nvPr/>
        </p:nvSpPr>
        <p:spPr>
          <a:xfrm>
            <a:off x="2971800" y="4361688"/>
            <a:ext cx="35661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React, TypeScript, Vite</a:t>
            </a:r>
            <a:endParaRPr lang="en-US" sz="1400" dirty="0"/>
          </a:p>
        </p:txBody>
      </p:sp>
      <p:sp>
        <p:nvSpPr>
          <p:cNvPr id="18" name="stack rule 4"/>
          <p:cNvSpPr/>
          <p:nvPr/>
        </p:nvSpPr>
        <p:spPr>
          <a:xfrm>
            <a:off x="548640" y="4965192"/>
            <a:ext cx="5989320" cy="0"/>
          </a:xfrm>
          <a:prstGeom prst="line">
            <a:avLst/>
          </a:prstGeom>
          <a:noFill/>
          <a:ln w="9525">
            <a:solidFill>
              <a:srgbClr val="E0D2BC"/>
            </a:solidFill>
            <a:prstDash val="solid"/>
          </a:ln>
        </p:spPr>
      </p:sp>
      <p:sp>
        <p:nvSpPr>
          <p:cNvPr id="19" name="Text 17"/>
          <p:cNvSpPr txBox="1"/>
          <p:nvPr/>
        </p:nvSpPr>
        <p:spPr>
          <a:xfrm>
            <a:off x="548640" y="5074920"/>
            <a:ext cx="2377440" cy="502920"/>
          </a:xfrm>
          <a:prstGeom prst="rect">
            <a:avLst/>
          </a:prstGeom>
          <a:noFill/>
          <a:ln/>
        </p:spPr>
        <p:txBody>
          <a:bodyPr wrap="square" lIns="0" tIns="0" rIns="0" bIns="0" rtlCol="0" anchor="ctr"/>
          <a:lstStyle/>
          <a:p>
            <a:pPr indent="0" marL="0">
              <a:buNone/>
            </a:pPr>
            <a:r>
              <a:rPr lang="en-US" sz="1400" b="1" dirty="0">
                <a:solidFill>
                  <a:srgbClr val="6E7B3A"/>
                </a:solidFill>
                <a:latin typeface="Calibri" pitchFamily="34" charset="0"/>
                <a:ea typeface="Calibri" pitchFamily="34" charset="-122"/>
                <a:cs typeface="Calibri" pitchFamily="34" charset="-120"/>
              </a:rPr>
              <a:t>Quality</a:t>
            </a:r>
            <a:endParaRPr lang="en-US" sz="1400" dirty="0"/>
          </a:p>
        </p:txBody>
      </p:sp>
      <p:sp>
        <p:nvSpPr>
          <p:cNvPr id="20" name="Text 18"/>
          <p:cNvSpPr txBox="1"/>
          <p:nvPr/>
        </p:nvSpPr>
        <p:spPr>
          <a:xfrm>
            <a:off x="2971800" y="5074920"/>
            <a:ext cx="3566160" cy="5029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47 tests, 54 browser checks, WCAG AA checked</a:t>
            </a:r>
            <a:endParaRPr lang="en-US" sz="1400" dirty="0"/>
          </a:p>
        </p:txBody>
      </p:sp>
      <p:sp>
        <p:nvSpPr>
          <p:cNvPr id="21" name="stack rule 5"/>
          <p:cNvSpPr/>
          <p:nvPr/>
        </p:nvSpPr>
        <p:spPr>
          <a:xfrm>
            <a:off x="548640" y="5678424"/>
            <a:ext cx="5989320" cy="0"/>
          </a:xfrm>
          <a:prstGeom prst="line">
            <a:avLst/>
          </a:prstGeom>
          <a:noFill/>
          <a:ln w="9525">
            <a:solidFill>
              <a:srgbClr val="E0D2BC"/>
            </a:solidFill>
            <a:prstDash val="solid"/>
          </a:ln>
        </p:spPr>
      </p:sp>
      <p:sp>
        <p:nvSpPr>
          <p:cNvPr id="22" name="card"/>
          <p:cNvSpPr/>
          <p:nvPr/>
        </p:nvSpPr>
        <p:spPr>
          <a:xfrm>
            <a:off x="6949440" y="1463040"/>
            <a:ext cx="4663440" cy="4572000"/>
          </a:xfrm>
          <a:prstGeom prst="roundRect">
            <a:avLst>
              <a:gd name="adj" fmla="val 1800"/>
            </a:avLst>
          </a:prstGeom>
          <a:solidFill>
            <a:srgbClr val="2A1B14"/>
          </a:solidFill>
          <a:ln w="9525">
            <a:solidFill>
              <a:srgbClr val="2A1B14"/>
            </a:solidFill>
            <a:prstDash val="solid"/>
          </a:ln>
        </p:spPr>
      </p:sp>
      <p:sp>
        <p:nvSpPr>
          <p:cNvPr id="23" name="Text 21"/>
          <p:cNvSpPr txBox="1"/>
          <p:nvPr/>
        </p:nvSpPr>
        <p:spPr>
          <a:xfrm>
            <a:off x="7269480" y="1691640"/>
            <a:ext cx="4023360" cy="320040"/>
          </a:xfrm>
          <a:prstGeom prst="rect">
            <a:avLst/>
          </a:prstGeom>
          <a:noFill/>
          <a:ln/>
        </p:spPr>
        <p:txBody>
          <a:bodyPr wrap="square" lIns="0" tIns="0" rIns="0" bIns="0" rtlCol="0" anchor="t"/>
          <a:lstStyle/>
          <a:p>
            <a:pPr indent="0" marL="0">
              <a:buNone/>
            </a:pPr>
            <a:r>
              <a:rPr lang="en-US" sz="1200" b="1" spc="200" kern="0" dirty="0">
                <a:solidFill>
                  <a:srgbClr val="E39B2D"/>
                </a:solidFill>
                <a:latin typeface="Calibri" pitchFamily="34" charset="0"/>
                <a:ea typeface="Calibri" pitchFamily="34" charset="-122"/>
                <a:cs typeface="Calibri" pitchFamily="34" charset="-120"/>
              </a:rPr>
              <a:t>RUN IT</a:t>
            </a:r>
            <a:endParaRPr lang="en-US" sz="1200" dirty="0"/>
          </a:p>
        </p:txBody>
      </p:sp>
      <p:sp>
        <p:nvSpPr>
          <p:cNvPr id="24" name="Text 22"/>
          <p:cNvSpPr txBox="1"/>
          <p:nvPr/>
        </p:nvSpPr>
        <p:spPr>
          <a:xfrm>
            <a:off x="7269480" y="2103120"/>
            <a:ext cx="4114800" cy="21031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rgbClr val="F3E7D3"/>
                </a:solidFill>
                <a:latin typeface="Calibri" pitchFamily="34" charset="0"/>
                <a:ea typeface="Calibri" pitchFamily="34" charset="-122"/>
                <a:cs typeface="Calibri" pitchFamily="34" charset="-120"/>
              </a:rPr>
              <a:t>Generate synthetic data</a:t>
            </a:r>
            <a:endParaRPr lang="en-US" sz="1500" dirty="0"/>
          </a:p>
          <a:p>
            <a:pPr marL="342900" indent="-342900">
              <a:spcAft>
                <a:spcPts val="1000"/>
              </a:spcAft>
              <a:buSzPct val="100000"/>
              <a:buFont typeface="+mj-lt"/>
              <a:buAutoNum type="arabicPeriod" startAt="1"/>
            </a:pPr>
            <a:r>
              <a:rPr lang="en-US" sz="1500" dirty="0">
                <a:solidFill>
                  <a:srgbClr val="F3E7D3"/>
                </a:solidFill>
                <a:latin typeface="Calibri" pitchFamily="34" charset="0"/>
                <a:ea typeface="Calibri" pitchFamily="34" charset="-122"/>
                <a:cs typeface="Calibri" pitchFamily="34" charset="-120"/>
              </a:rPr>
              <a:t>Load it into Exasol (protected layout created)</a:t>
            </a:r>
            <a:endParaRPr lang="en-US" sz="1500" dirty="0"/>
          </a:p>
          <a:p>
            <a:pPr marL="342900" indent="-342900">
              <a:spcAft>
                <a:spcPts val="1000"/>
              </a:spcAft>
              <a:buSzPct val="100000"/>
              <a:buFont typeface="+mj-lt"/>
              <a:buAutoNum type="arabicPeriod" startAt="1"/>
            </a:pPr>
            <a:r>
              <a:rPr lang="en-US" sz="1500" dirty="0">
                <a:solidFill>
                  <a:srgbClr val="F3E7D3"/>
                </a:solidFill>
                <a:latin typeface="Calibri" pitchFamily="34" charset="0"/>
                <a:ea typeface="Calibri" pitchFamily="34" charset="-122"/>
                <a:cs typeface="Calibri" pitchFamily="34" charset="-120"/>
              </a:rPr>
              <a:t>Run the analysis inside Exasol</a:t>
            </a:r>
            <a:endParaRPr lang="en-US" sz="1500" dirty="0"/>
          </a:p>
          <a:p>
            <a:pPr marL="342900" indent="-342900">
              <a:spcAft>
                <a:spcPts val="1000"/>
              </a:spcAft>
              <a:buSzPct val="100000"/>
              <a:buFont typeface="+mj-lt"/>
              <a:buAutoNum type="arabicPeriod" startAt="1"/>
            </a:pPr>
            <a:r>
              <a:rPr lang="en-US" sz="1500" dirty="0">
                <a:solidFill>
                  <a:srgbClr val="F3E7D3"/>
                </a:solidFill>
                <a:latin typeface="Calibri" pitchFamily="34" charset="0"/>
                <a:ea typeface="Calibri" pitchFamily="34" charset="-122"/>
                <a:cs typeface="Calibri" pitchFamily="34" charset="-120"/>
              </a:rPr>
              <a:t>Start the API and open the website</a:t>
            </a:r>
            <a:endParaRPr lang="en-US" sz="1500" dirty="0"/>
          </a:p>
        </p:txBody>
      </p:sp>
      <p:sp>
        <p:nvSpPr>
          <p:cNvPr id="25" name="Text 23"/>
          <p:cNvSpPr txBox="1"/>
          <p:nvPr/>
        </p:nvSpPr>
        <p:spPr>
          <a:xfrm>
            <a:off x="7269480" y="4572000"/>
            <a:ext cx="4114800" cy="1188720"/>
          </a:xfrm>
          <a:prstGeom prst="rect">
            <a:avLst/>
          </a:prstGeom>
          <a:noFill/>
          <a:ln/>
        </p:spPr>
        <p:txBody>
          <a:bodyPr wrap="square" lIns="0" tIns="0" rIns="0" bIns="0" rtlCol="0" anchor="t"/>
          <a:lstStyle/>
          <a:p>
            <a:pPr indent="0" marL="0">
              <a:buNone/>
            </a:pPr>
            <a:r>
              <a:rPr lang="en-US" sz="1500" b="1" dirty="0">
                <a:solidFill>
                  <a:srgbClr val="E39B2D"/>
                </a:solidFill>
                <a:latin typeface="Calibri" pitchFamily="34" charset="0"/>
                <a:ea typeface="Calibri" pitchFamily="34" charset="-122"/>
                <a:cs typeface="Calibri" pitchFamily="34" charset="-120"/>
              </a:rPr>
              <a:t>github.com/lisamehta0791/TraceHold</a:t>
            </a:r>
            <a:endParaRPr lang="en-US" sz="1500" dirty="0"/>
          </a:p>
          <a:p>
            <a:pPr indent="0" marL="0">
              <a:buNone/>
            </a:pPr>
            <a:r>
              <a:rPr lang="en-US" sz="1500" dirty="0">
                <a:solidFill>
                  <a:srgbClr val="CDB48A"/>
                </a:solidFill>
                <a:latin typeface="Calibri" pitchFamily="34" charset="0"/>
                <a:ea typeface="Calibri" pitchFamily="34" charset="-122"/>
                <a:cs typeface="Calibri" pitchFamily="34" charset="-120"/>
              </a:rPr>
              <a:t>MIT licence · README with the full run guide and screenshots</a:t>
            </a:r>
            <a:endParaRPr lang="en-US" sz="15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nchor="ctr"/>
          <a:lstStyle/>
          <a:p>
            <a:pPr indent="0" marL="0">
              <a:buNone/>
            </a:pPr>
            <a:r>
              <a:rPr lang="en-US" sz="1100" b="1" spc="300" kern="0" dirty="0">
                <a:solidFill>
                  <a:srgbClr val="695544"/>
                </a:solidFill>
              </a:rPr>
              <a:t>SOURCES</a:t>
            </a:r>
            <a:endParaRPr lang="en-US" sz="11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References</a:t>
            </a:r>
            <a:endParaRPr lang="en-US" sz="2800" dirty="0"/>
          </a:p>
        </p:txBody>
      </p:sp>
      <p:sp>
        <p:nvSpPr>
          <p:cNvPr id="4" name="Text 2"/>
          <p:cNvSpPr txBox="1"/>
          <p:nvPr/>
        </p:nvSpPr>
        <p:spPr>
          <a:xfrm>
            <a:off x="548640" y="1508760"/>
            <a:ext cx="11064240" cy="420624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ExaThon India 2026 challenge page: exasol.com/events/exathon-india-2026</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Deccan Herald: Bengaluru citizens lose over ₹1,200 crore to online fraud with low recovery rate</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Ministry of Home Affairs, reply in the Rajya Sabha on CFCFRMS (Feb 2026)</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Pink City Post: Rajasthan High Court directions on lien versus blanket freeze (Aug 2026)</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LiveLaw: Problem with CFCFRMS, reading MHA's new account-freeze SOP (2 Jan 2026 procedure)</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MediaNama: RTI reply on MuleHunter.AI adoption by 23 banks (Dec 2025)</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Voice&amp;Data: iAcuity launches Fund Trail (Mar 2023)</a:t>
            </a:r>
            <a:endParaRPr lang="en-US" sz="1700" dirty="0"/>
          </a:p>
          <a:p>
            <a:pPr marL="342900" indent="-342900">
              <a:spcAft>
                <a:spcPts val="1400"/>
              </a:spcAft>
              <a:buSzPct val="100000"/>
              <a:buFont typeface="+mj-lt"/>
              <a:buAutoNum type="arabicPeriod" startAt="1"/>
            </a:pPr>
            <a:r>
              <a:rPr lang="en-US" sz="1700" dirty="0">
                <a:solidFill>
                  <a:schemeClr val="tx1"/>
                </a:solidFill>
                <a:latin typeface="Calibri" pitchFamily="34" charset="0"/>
                <a:ea typeface="Calibri" pitchFamily="34" charset="-122"/>
                <a:cs typeface="Calibri" pitchFamily="34" charset="-120"/>
              </a:rPr>
              <a:t>Exasol: MCP server, Exasol Personal, developer documentation</a:t>
            </a:r>
            <a:endParaRPr lang="en-US" sz="1700" dirty="0"/>
          </a:p>
        </p:txBody>
      </p:sp>
      <p:sp>
        <p:nvSpPr>
          <p:cNvPr id="5" name="Text 3"/>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dirty="0">
                <a:solidFill>
                  <a:srgbClr val="695544"/>
                </a:solidFill>
                <a:latin typeface="Calibri" pitchFamily="34" charset="0"/>
                <a:ea typeface="Calibri" pitchFamily="34" charset="-122"/>
                <a:cs typeface="Calibri" pitchFamily="34" charset="-120"/>
              </a:rPr>
              <a:t>Court and procedure references are context, not legal advice; the Rajasthan order binds Rajasthan only. All project data is synthetic.</a:t>
            </a:r>
            <a:endParaRPr lang="en-US" sz="1100" dirty="0"/>
          </a:p>
        </p:txBody>
      </p:sp>
      <p:sp>
        <p:nvSpPr>
          <p:cNvPr id="25" name="Slide Number Placeholder 0"/>
          <p:cNvSpPr>
            <a:spLocks noGrp="1"/>
          </p:cNvSpPr>
          <p:nvPr>
            <p:ph type="sldNum" sz="quarter" idx="4294967295"/>
          </p:nvPr>
        </p:nvSpPr>
        <p:spPr>
          <a:xfrm>
            <a:off x="11155680" y="6446520"/>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rgbClr val="B98B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5669280" cy="365760"/>
          </a:xfrm>
          <a:prstGeom prst="rect">
            <a:avLst/>
          </a:prstGeom>
          <a:noFill/>
          <a:ln/>
        </p:spPr>
        <p:txBody>
          <a:bodyPr wrap="square" rtlCol="0"/>
          <a:lstStyle/>
          <a:p>
            <a:pPr indent="0" marL="0">
              <a:buNone/>
            </a:pPr>
            <a:r>
              <a:rPr lang="en-US" sz="1200" b="1" spc="300" kern="0" dirty="0">
                <a:solidFill>
                  <a:srgbClr val="E39B2D"/>
                </a:solidFill>
              </a:rPr>
              <a:t>THANK YOU</a:t>
            </a:r>
            <a:endParaRPr lang="en-US" sz="1200" dirty="0"/>
          </a:p>
        </p:txBody>
      </p:sp>
      <p:sp>
        <p:nvSpPr>
          <p:cNvPr id="3" name="Text 0"/>
          <p:cNvSpPr/>
          <p:nvPr>
            <p:ph idx="101" type="title" hasCustomPrompt="1"/>
          </p:nvPr>
        </p:nvSpPr>
        <p:spPr>
          <a:xfrm>
            <a:off x="731520" y="1325880"/>
            <a:ext cx="5669280" cy="1371600"/>
          </a:xfrm>
          <a:prstGeom prst="rect">
            <a:avLst/>
          </a:prstGeom>
          <a:noFill/>
          <a:ln/>
        </p:spPr>
        <p:txBody>
          <a:bodyPr wrap="square" rtlCol="0"/>
          <a:lstStyle/>
          <a:p>
            <a:pPr algn="l" indent="0" marL="0">
              <a:buNone/>
            </a:pPr>
            <a:r>
              <a:rPr lang="en-US" sz="7000" b="1" dirty="0">
                <a:solidFill>
                  <a:srgbClr val="F3E7D3"/>
                </a:solidFill>
                <a:latin typeface="Cambria" pitchFamily="34" charset="0"/>
                <a:ea typeface="Cambria" pitchFamily="34" charset="-122"/>
                <a:cs typeface="Cambria" pitchFamily="34" charset="-120"/>
              </a:rPr>
              <a:t>Trace</a:t>
            </a:r>
            <a:pPr algn="l" indent="0" marL="0">
              <a:buNone/>
            </a:pPr>
            <a:r>
              <a:rPr lang="en-US" sz="7000" b="1" i="1" dirty="0">
                <a:solidFill>
                  <a:srgbClr val="E39B2D"/>
                </a:solidFill>
                <a:latin typeface="Cambria" pitchFamily="34" charset="0"/>
                <a:ea typeface="Cambria" pitchFamily="34" charset="-122"/>
                <a:cs typeface="Cambria" pitchFamily="34" charset="-120"/>
              </a:rPr>
              <a:t>Hold</a:t>
            </a:r>
            <a:endParaRPr lang="en-US" sz="7000" dirty="0"/>
          </a:p>
        </p:txBody>
      </p:sp>
      <p:sp>
        <p:nvSpPr>
          <p:cNvPr id="4" name="Text 0"/>
          <p:cNvSpPr/>
          <p:nvPr>
            <p:ph idx="102" type="body" hasCustomPrompt="1"/>
          </p:nvPr>
        </p:nvSpPr>
        <p:spPr>
          <a:xfrm>
            <a:off x="731520" y="2788920"/>
            <a:ext cx="5303520" cy="1097280"/>
          </a:xfrm>
          <a:prstGeom prst="rect">
            <a:avLst/>
          </a:prstGeom>
          <a:noFill/>
          <a:ln/>
        </p:spPr>
        <p:txBody>
          <a:bodyPr wrap="square" rtlCol="0"/>
          <a:lstStyle/>
          <a:p>
            <a:pPr indent="0" marL="0">
              <a:buNone/>
            </a:pPr>
            <a:r>
              <a:rPr lang="en-US" sz="2400" dirty="0">
                <a:solidFill>
                  <a:srgbClr val="CDB48A"/>
                </a:solidFill>
                <a:latin typeface="Cambria" pitchFamily="34" charset="0"/>
                <a:ea typeface="Cambria" pitchFamily="34" charset="-122"/>
                <a:cs typeface="Cambria" pitchFamily="34" charset="-120"/>
              </a:rPr>
              <a:t>Hold the victim's money sooner. Leave everyone else's alone.</a:t>
            </a:r>
            <a:endParaRPr lang="en-US" sz="2400" dirty="0"/>
          </a:p>
        </p:txBody>
      </p:sp>
      <p:sp>
        <p:nvSpPr>
          <p:cNvPr id="5" name="qr card"/>
          <p:cNvSpPr/>
          <p:nvPr/>
        </p:nvSpPr>
        <p:spPr>
          <a:xfrm>
            <a:off x="7818120" y="1325880"/>
            <a:ext cx="3108960" cy="3886200"/>
          </a:xfrm>
          <a:prstGeom prst="roundRect">
            <a:avLst>
              <a:gd name="adj" fmla="val 2647"/>
            </a:avLst>
          </a:prstGeom>
          <a:solidFill>
            <a:srgbClr val="F3E7D3"/>
          </a:solidFill>
          <a:ln w="9525">
            <a:solidFill>
              <a:srgbClr val="F3E7D3"/>
            </a:solidFill>
            <a:prstDash val="solid"/>
          </a:ln>
        </p:spPr>
      </p:sp>
      <p:pic>
        <p:nvPicPr>
          <p:cNvPr id="6" name="QR code to the repository" descr="preencoded.png">    </p:cNvPr>
          <p:cNvPicPr>
            <a:picLocks noChangeAspect="1"/>
          </p:cNvPicPr>
          <p:nvPr/>
        </p:nvPicPr>
        <p:blipFill>
          <a:blip r:embed="rId1"/>
          <a:stretch>
            <a:fillRect/>
          </a:stretch>
        </p:blipFill>
        <p:spPr>
          <a:xfrm>
            <a:off x="8092440" y="1600200"/>
            <a:ext cx="2560320" cy="2560320"/>
          </a:xfrm>
          <a:prstGeom prst="rect">
            <a:avLst/>
          </a:prstGeom>
        </p:spPr>
      </p:pic>
      <p:sp>
        <p:nvSpPr>
          <p:cNvPr id="7" name="Text 4"/>
          <p:cNvSpPr txBox="1"/>
          <p:nvPr/>
        </p:nvSpPr>
        <p:spPr>
          <a:xfrm>
            <a:off x="8092440" y="4343400"/>
            <a:ext cx="2560320" cy="731520"/>
          </a:xfrm>
          <a:prstGeom prst="rect">
            <a:avLst/>
          </a:prstGeom>
          <a:noFill/>
          <a:ln/>
        </p:spPr>
        <p:txBody>
          <a:bodyPr wrap="square" lIns="0" tIns="0" rIns="0" bIns="0" rtlCol="0" anchor="t"/>
          <a:lstStyle/>
          <a:p>
            <a:pPr algn="ctr" indent="0" marL="0">
              <a:buNone/>
            </a:pPr>
            <a:r>
              <a:rPr lang="en-US" sz="1500" b="1" dirty="0">
                <a:solidFill>
                  <a:srgbClr val="2A1B14"/>
                </a:solidFill>
                <a:latin typeface="Calibri" pitchFamily="34" charset="0"/>
                <a:ea typeface="Calibri" pitchFamily="34" charset="-122"/>
                <a:cs typeface="Calibri" pitchFamily="34" charset="-120"/>
              </a:rPr>
              <a:t>Scan for the code</a:t>
            </a:r>
            <a:endParaRPr lang="en-US" sz="1500" dirty="0"/>
          </a:p>
          <a:p>
            <a:pPr algn="ctr" indent="0" marL="0">
              <a:buNone/>
            </a:pPr>
            <a:r>
              <a:rPr lang="en-US" sz="1100" dirty="0">
                <a:solidFill>
                  <a:srgbClr val="5B4636"/>
                </a:solidFill>
                <a:latin typeface="Calibri" pitchFamily="34" charset="0"/>
                <a:ea typeface="Calibri" pitchFamily="34" charset="-122"/>
                <a:cs typeface="Calibri" pitchFamily="34" charset="-120"/>
              </a:rPr>
              <a:t>github.com/lisamehta0791/TraceHold</a:t>
            </a:r>
            <a:endParaRPr lang="en-US" sz="1500" dirty="0"/>
          </a:p>
        </p:txBody>
      </p:sp>
      <p:sp>
        <p:nvSpPr>
          <p:cNvPr id="8" name="Text 5"/>
          <p:cNvSpPr txBox="1"/>
          <p:nvPr/>
        </p:nvSpPr>
        <p:spPr>
          <a:xfrm>
            <a:off x="731520" y="6080760"/>
            <a:ext cx="10058400" cy="365760"/>
          </a:xfrm>
          <a:prstGeom prst="rect">
            <a:avLst/>
          </a:prstGeom>
          <a:noFill/>
          <a:ln/>
        </p:spPr>
        <p:txBody>
          <a:bodyPr wrap="square" lIns="0" tIns="0" rIns="0" bIns="0" rtlCol="0" anchor="t"/>
          <a:lstStyle/>
          <a:p>
            <a:pPr indent="0" marL="0">
              <a:buNone/>
            </a:pPr>
            <a:r>
              <a:rPr lang="en-US" sz="1200" dirty="0">
                <a:solidFill>
                  <a:srgbClr val="CDB48A"/>
                </a:solidFill>
                <a:latin typeface="Calibri" pitchFamily="34" charset="0"/>
                <a:ea typeface="Calibri" pitchFamily="34" charset="-122"/>
                <a:cs typeface="Calibri" pitchFamily="34" charset="-120"/>
              </a:rPr>
              <a:t>Lisa Mehta  ·  github.com/lisamehta0791/TraceHold  ·  Built on Exasol Personal</a:t>
            </a:r>
            <a:endParaRPr lang="en-US" sz="1200" dirty="0"/>
          </a:p>
        </p:txBody>
      </p:sp>
    </p:spTree>
  </p:cSld>
  <p:clrMapOvr>
    <a:masterClrMapping/>
  </p:clrMapOvr>
</p:sld>
</file>

<file path=ppt/theme/theme1.xml><?xml version="1.0" encoding="utf-8"?>
<a:theme xmlns:a="http://schemas.openxmlformats.org/drawingml/2006/main" name="TraceHold">
  <a:themeElements>
    <a:clrScheme name="TraceHold">
      <a:dk1>
        <a:srgbClr val="2A1B14"/>
      </a:dk1>
      <a:lt1>
        <a:srgbClr val="FFFCF7"/>
      </a:lt1>
      <a:dk2>
        <a:srgbClr val="7A2232"/>
      </a:dk2>
      <a:lt2>
        <a:srgbClr val="F6F0E6"/>
      </a:lt2>
      <a:accent1>
        <a:srgbClr val="7A2232"/>
      </a:accent1>
      <a:accent2>
        <a:srgbClr val="E39B2D"/>
      </a:accent2>
      <a:accent3>
        <a:srgbClr val="6E7B3A"/>
      </a:accent3>
      <a:accent4>
        <a:srgbClr val="C2553A"/>
      </a:accent4>
      <a:accent5>
        <a:srgbClr val="B98B6A"/>
      </a:accent5>
      <a:accent6>
        <a:srgbClr val="5B4636"/>
      </a:accent6>
      <a:hlink>
        <a:srgbClr val="7A2232"/>
      </a:hlink>
      <a:folHlink>
        <a:srgbClr val="2A1B14"/>
      </a:folHlink>
    </a:clrScheme>
    <a:fontScheme name="TraceH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TraceHold: ExaThon India 2026</dc:title>
  <dc:subject>PptxGenJS Presentation</dc:subject>
  <dc:creator>Lisa Mehta</dc:creator>
  <cp:lastModifiedBy>Lisa Mehta</cp:lastModifiedBy>
  <cp:revision>1</cp:revision>
  <dcterms:created xsi:type="dcterms:W3CDTF">2026-10-19T09:27:48Z</dcterms:created>
  <dcterms:modified xsi:type="dcterms:W3CDTF">2026-10-19T09:27:48Z</dcterms:modified>
</cp:coreProperties>
</file>